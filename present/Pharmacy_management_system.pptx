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slides/slide4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Layouts/slideLayout7.xml" ContentType="application/vnd.openxmlformats-officedocument.presentationml.slideLayout+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Default Extension="jpeg" ContentType="image/jpeg"/>
  <Override PartName="/ppt/slideLayouts/slideLayout3.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56" r:id="rId2"/>
    <p:sldId id="257" r:id="rId3"/>
    <p:sldId id="258" r:id="rId4"/>
    <p:sldId id="259" r:id="rId5"/>
    <p:sldId id="260" r:id="rId6"/>
    <p:sldId id="264" r:id="rId7"/>
    <p:sldId id="265" r:id="rId8"/>
    <p:sldId id="266" r:id="rId9"/>
    <p:sldId id="267" r:id="rId10"/>
    <p:sldId id="269" r:id="rId11"/>
    <p:sldId id="271" r:id="rId12"/>
    <p:sldId id="273" r:id="rId13"/>
    <p:sldId id="276" r:id="rId14"/>
    <p:sldId id="277" r:id="rId15"/>
    <p:sldId id="280" r:id="rId16"/>
    <p:sldId id="287" r:id="rId17"/>
    <p:sldId id="288" r:id="rId18"/>
    <p:sldId id="289" r:id="rId19"/>
    <p:sldId id="281" r:id="rId20"/>
    <p:sldId id="282" r:id="rId21"/>
    <p:sldId id="283" r:id="rId22"/>
    <p:sldId id="284" r:id="rId23"/>
    <p:sldId id="285" r:id="rId24"/>
    <p:sldId id="286" r:id="rId25"/>
    <p:sldId id="290" r:id="rId26"/>
    <p:sldId id="292" r:id="rId27"/>
    <p:sldId id="293" r:id="rId28"/>
    <p:sldId id="294" r:id="rId29"/>
    <p:sldId id="295" r:id="rId30"/>
    <p:sldId id="296" r:id="rId31"/>
    <p:sldId id="298" r:id="rId32"/>
    <p:sldId id="297" r:id="rId33"/>
    <p:sldId id="299" r:id="rId34"/>
    <p:sldId id="300" r:id="rId35"/>
    <p:sldId id="301" r:id="rId36"/>
    <p:sldId id="302" r:id="rId37"/>
    <p:sldId id="303" r:id="rId38"/>
    <p:sldId id="304" r:id="rId39"/>
    <p:sldId id="305" r:id="rId40"/>
    <p:sldId id="306" r:id="rId41"/>
    <p:sldId id="307" r:id="rId42"/>
    <p:sldId id="309" r:id="rId43"/>
    <p:sldId id="308" r:id="rId44"/>
    <p:sldId id="291" r:id="rId45"/>
  </p:sldIdLst>
  <p:sldSz cx="9144000" cy="6858000" type="screen4x3"/>
  <p:notesSz cx="6858000" cy="9144000"/>
  <p:custShowLst>
    <p:custShow name="Custom Show 1" id="0">
      <p:sldLst>
        <p:sld r:id="rId2"/>
      </p:sldLst>
    </p:custShow>
  </p:custShow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showPr>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9" d="100"/>
          <a:sy n="69" d="100"/>
        </p:scale>
        <p:origin x="-1416" y="-108"/>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1D8BD707-D9CF-40AE-B4C6-C98DA3205C09}" type="datetimeFigureOut">
              <a:rPr lang="en-US" smtClean="0"/>
              <a:pPr/>
              <a:t>5/5/2022</a:t>
            </a:fld>
            <a:endParaRPr lang="en-US"/>
          </a:p>
        </p:txBody>
      </p:sp>
      <p:sp>
        <p:nvSpPr>
          <p:cNvPr id="19" name="Footer Placeholder 18"/>
          <p:cNvSpPr>
            <a:spLocks noGrp="1"/>
          </p:cNvSpPr>
          <p:nvPr>
            <p:ph type="ftr" sz="quarter" idx="11"/>
          </p:nvPr>
        </p:nvSpPr>
        <p:spPr/>
        <p:txBody>
          <a:bodyPr/>
          <a:lstStyle/>
          <a:p>
            <a:endParaRPr lang="en-US"/>
          </a:p>
        </p:txBody>
      </p:sp>
      <p:sp>
        <p:nvSpPr>
          <p:cNvPr id="27" name="Slide Number Placeholder 26"/>
          <p:cNvSpPr>
            <a:spLocks noGrp="1"/>
          </p:cNvSpPr>
          <p:nvPr>
            <p:ph type="sldNum" sz="quarter" idx="12"/>
          </p:nvPr>
        </p:nvSpPr>
        <p:spPr/>
        <p:txBody>
          <a:bodyPr/>
          <a:lstStyle/>
          <a:p>
            <a:fld id="{B6F15528-21DE-4FAA-801E-634DDDAF4B2B}"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5/5/2022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5/5/2022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1D8BD707-D9CF-40AE-B4C6-C98DA3205C09}" type="datetimeFigureOut">
              <a:rPr lang="en-US" smtClean="0"/>
              <a:pPr/>
              <a:t>5/5/2022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1D8BD707-D9CF-40AE-B4C6-C98DA3205C09}" type="datetimeFigureOut">
              <a:rPr lang="en-US" smtClean="0"/>
              <a:pPr/>
              <a:t>5/5/2022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5/5/2022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5/5/2022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5/5/2022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077200" y="6356350"/>
            <a:ext cx="609600" cy="365125"/>
          </a:xfrm>
        </p:spPr>
        <p:txBody>
          <a:bodyPr/>
          <a:lstStyle/>
          <a:p>
            <a:fld id="{B6F15528-21DE-4FAA-801E-634DDDAF4B2B}" type="slidenum">
              <a:rPr lang="en-US" smtClean="0"/>
              <a:pPr/>
              <a:t>‹#›</a:t>
            </a:fld>
            <a:endParaRPr lang="en-US"/>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smtClean="0"/>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5/5/2022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5/5/2022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1D8BD707-D9CF-40AE-B4C6-C98DA3205C09}" type="datetimeFigureOut">
              <a:rPr lang="en-US" smtClean="0"/>
              <a:pPr/>
              <a:t>5/5/2022</a:t>
            </a:fld>
            <a:endParaRPr lang="en-US"/>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B6F15528-21DE-4FAA-801E-634DDDAF4B2B}" type="slidenum">
              <a:rPr lang="en-US" smtClean="0"/>
              <a:pPr/>
              <a:t>‹#›</a:t>
            </a:fld>
            <a:endParaRPr lang="en-US"/>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Pharmacy Management System</a:t>
            </a:r>
            <a:endParaRPr lang="en-US" dirty="0"/>
          </a:p>
        </p:txBody>
      </p:sp>
    </p:spTree>
  </p:cSld>
  <p:clrMapOvr>
    <a:masterClrMapping/>
  </p:clrMapOvr>
  <p:transition>
    <p:dissolv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buFont typeface="Wingdings" pitchFamily="2" charset="2"/>
              <a:buChar char="v"/>
            </a:pPr>
            <a:r>
              <a:rPr lang="en-US" dirty="0" smtClean="0"/>
              <a:t>Existing System</a:t>
            </a:r>
            <a:endParaRPr lang="en-US" dirty="0"/>
          </a:p>
        </p:txBody>
      </p:sp>
      <p:sp>
        <p:nvSpPr>
          <p:cNvPr id="3" name="Content Placeholder 2"/>
          <p:cNvSpPr>
            <a:spLocks noGrp="1"/>
          </p:cNvSpPr>
          <p:nvPr>
            <p:ph idx="1"/>
          </p:nvPr>
        </p:nvSpPr>
        <p:spPr/>
        <p:txBody>
          <a:bodyPr>
            <a:normAutofit fontScale="25000" lnSpcReduction="20000"/>
          </a:bodyPr>
          <a:lstStyle/>
          <a:p>
            <a:pPr>
              <a:lnSpc>
                <a:spcPct val="170000"/>
              </a:lnSpc>
            </a:pPr>
            <a:r>
              <a:rPr lang="en-US" sz="8000" dirty="0" smtClean="0"/>
              <a:t> Used for describing something that exists now, especially when it might be changed or replaced. The existing system needs to be change.</a:t>
            </a:r>
          </a:p>
          <a:p>
            <a:pPr lvl="0">
              <a:lnSpc>
                <a:spcPct val="170000"/>
              </a:lnSpc>
              <a:buFont typeface="Wingdings" pitchFamily="2" charset="2"/>
              <a:buChar char="Ø"/>
            </a:pPr>
            <a:r>
              <a:rPr lang="en-US" sz="8000" dirty="0" smtClean="0"/>
              <a:t> In existing system, there is lots of paper work and calculation. So, its may occur an error.</a:t>
            </a:r>
          </a:p>
          <a:p>
            <a:pPr>
              <a:lnSpc>
                <a:spcPct val="170000"/>
              </a:lnSpc>
              <a:buFont typeface="Wingdings" pitchFamily="2" charset="2"/>
              <a:buChar char="Ø"/>
            </a:pPr>
            <a:r>
              <a:rPr lang="en-US" sz="8000" dirty="0" smtClean="0"/>
              <a:t>The existing System consume lot of time.</a:t>
            </a:r>
          </a:p>
          <a:p>
            <a:pPr>
              <a:lnSpc>
                <a:spcPct val="170000"/>
              </a:lnSpc>
              <a:buFont typeface="Wingdings" pitchFamily="2" charset="2"/>
              <a:buChar char="Ø"/>
            </a:pPr>
            <a:r>
              <a:rPr lang="en-US" sz="8000" dirty="0" smtClean="0"/>
              <a:t>he data which is store on paper exclusively therefore maybe lost, stolen and destroyed due to some situation.  </a:t>
            </a:r>
            <a:endParaRPr lang="en-US" dirty="0" smtClean="0"/>
          </a:p>
          <a:p>
            <a:pPr>
              <a:buFont typeface="Wingdings" pitchFamily="2" charset="2"/>
              <a:buChar char="Ø"/>
            </a:pPr>
            <a:endParaRPr lang="en-US" dirty="0" smtClean="0"/>
          </a:p>
          <a:p>
            <a:pPr>
              <a:buNone/>
            </a:pPr>
            <a:r>
              <a:rPr lang="en-US" dirty="0" smtClean="0"/>
              <a:t> </a:t>
            </a:r>
            <a:endParaRPr lang="en-US" dirty="0"/>
          </a:p>
        </p:txBody>
      </p:sp>
    </p:spTree>
  </p:cSld>
  <p:clrMapOvr>
    <a:masterClrMapping/>
  </p:clrMapOvr>
  <p:transition>
    <p:wipe dir="d"/>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buFont typeface="Wingdings" pitchFamily="2" charset="2"/>
              <a:buChar char="v"/>
            </a:pPr>
            <a:r>
              <a:rPr lang="en-US" dirty="0" smtClean="0"/>
              <a:t>Proposed System</a:t>
            </a:r>
            <a:endParaRPr lang="en-US" dirty="0"/>
          </a:p>
        </p:txBody>
      </p:sp>
      <p:sp>
        <p:nvSpPr>
          <p:cNvPr id="3" name="Content Placeholder 2"/>
          <p:cNvSpPr>
            <a:spLocks noGrp="1"/>
          </p:cNvSpPr>
          <p:nvPr>
            <p:ph idx="1"/>
          </p:nvPr>
        </p:nvSpPr>
        <p:spPr/>
        <p:txBody>
          <a:bodyPr>
            <a:normAutofit/>
          </a:bodyPr>
          <a:lstStyle/>
          <a:p>
            <a:pPr lvl="0">
              <a:lnSpc>
                <a:spcPct val="150000"/>
              </a:lnSpc>
              <a:buFont typeface="Wingdings" pitchFamily="2" charset="2"/>
              <a:buChar char="Ø"/>
            </a:pPr>
            <a:r>
              <a:rPr lang="en-US" sz="2000" dirty="0" smtClean="0"/>
              <a:t>We can utilization of time and workforce.</a:t>
            </a:r>
          </a:p>
          <a:p>
            <a:pPr lvl="0">
              <a:lnSpc>
                <a:spcPct val="150000"/>
              </a:lnSpc>
              <a:buFont typeface="Wingdings" pitchFamily="2" charset="2"/>
              <a:buChar char="Ø"/>
            </a:pPr>
            <a:r>
              <a:rPr lang="en-US" sz="2000" dirty="0" smtClean="0"/>
              <a:t>We can achieve high accuracy in calculation.</a:t>
            </a:r>
          </a:p>
          <a:p>
            <a:pPr lvl="0">
              <a:lnSpc>
                <a:spcPct val="150000"/>
              </a:lnSpc>
              <a:buFont typeface="Wingdings" pitchFamily="2" charset="2"/>
              <a:buChar char="Ø"/>
            </a:pPr>
            <a:r>
              <a:rPr lang="en-US" sz="2000" dirty="0" smtClean="0"/>
              <a:t>We can store our shortage of data till long term.</a:t>
            </a:r>
          </a:p>
          <a:p>
            <a:pPr>
              <a:lnSpc>
                <a:spcPct val="150000"/>
              </a:lnSpc>
              <a:buFont typeface="Wingdings" pitchFamily="2" charset="2"/>
              <a:buChar char="Ø"/>
            </a:pPr>
            <a:r>
              <a:rPr lang="en-US" sz="2000" dirty="0" smtClean="0"/>
              <a:t>we get efficiency in modification, sorting and retrieval of data.</a:t>
            </a:r>
            <a:endParaRPr lang="en-US" sz="2000" dirty="0"/>
          </a:p>
        </p:txBody>
      </p:sp>
    </p:spTree>
  </p:cSld>
  <p:clrMapOvr>
    <a:masterClrMapping/>
  </p:clrMapOvr>
  <p:transition>
    <p:wip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buFont typeface="Wingdings" pitchFamily="2" charset="2"/>
              <a:buChar char="v"/>
            </a:pPr>
            <a:r>
              <a:rPr lang="en-US" dirty="0" smtClean="0"/>
              <a:t>Scope of System</a:t>
            </a:r>
            <a:endParaRPr lang="en-US" dirty="0"/>
          </a:p>
        </p:txBody>
      </p:sp>
      <p:sp>
        <p:nvSpPr>
          <p:cNvPr id="3" name="Content Placeholder 2"/>
          <p:cNvSpPr>
            <a:spLocks noGrp="1"/>
          </p:cNvSpPr>
          <p:nvPr>
            <p:ph idx="1"/>
          </p:nvPr>
        </p:nvSpPr>
        <p:spPr/>
        <p:txBody>
          <a:bodyPr>
            <a:noAutofit/>
          </a:bodyPr>
          <a:lstStyle/>
          <a:p>
            <a:pPr>
              <a:lnSpc>
                <a:spcPct val="150000"/>
              </a:lnSpc>
            </a:pPr>
            <a:r>
              <a:rPr lang="en-US" sz="2000" dirty="0" smtClean="0"/>
              <a:t>With the development of specific and potent synthetic drugs, the emphasis of the pharmacist responsibility has moved substantially towards the utilization of scientific knowledge in the proper use of modern medicines and the protection of the public against dangers  that are inherent in their use.</a:t>
            </a:r>
          </a:p>
          <a:p>
            <a:pPr lvl="0">
              <a:lnSpc>
                <a:spcPct val="150000"/>
              </a:lnSpc>
              <a:buFont typeface="Wingdings" pitchFamily="2" charset="2"/>
              <a:buChar char="Ø"/>
            </a:pPr>
            <a:r>
              <a:rPr lang="en-US" sz="2000" dirty="0" smtClean="0"/>
              <a:t>Our system manages the stock of Medicine.</a:t>
            </a:r>
          </a:p>
          <a:p>
            <a:pPr lvl="0">
              <a:lnSpc>
                <a:spcPct val="150000"/>
              </a:lnSpc>
              <a:buFont typeface="Wingdings" pitchFamily="2" charset="2"/>
              <a:buChar char="Ø"/>
            </a:pPr>
            <a:r>
              <a:rPr lang="en-US" sz="2000" dirty="0" smtClean="0"/>
              <a:t>Do Operation like insert medicine, Delete Medicine Update Medicine.</a:t>
            </a:r>
          </a:p>
          <a:p>
            <a:pPr lvl="0">
              <a:lnSpc>
                <a:spcPct val="150000"/>
              </a:lnSpc>
              <a:buFont typeface="Wingdings" pitchFamily="2" charset="2"/>
              <a:buChar char="Ø"/>
            </a:pPr>
            <a:r>
              <a:rPr lang="en-US" sz="2000" dirty="0" smtClean="0"/>
              <a:t>In our System make generate report for  selling, expensive.</a:t>
            </a:r>
          </a:p>
          <a:p>
            <a:pPr lvl="0">
              <a:lnSpc>
                <a:spcPct val="150000"/>
              </a:lnSpc>
              <a:buFont typeface="Wingdings" pitchFamily="2" charset="2"/>
              <a:buChar char="Ø"/>
            </a:pPr>
            <a:r>
              <a:rPr lang="en-US" sz="2000" dirty="0" smtClean="0"/>
              <a:t>Make bill for Customer on buying medicine.</a:t>
            </a:r>
          </a:p>
          <a:p>
            <a:pPr lvl="0">
              <a:lnSpc>
                <a:spcPct val="150000"/>
              </a:lnSpc>
              <a:buFont typeface="Wingdings" pitchFamily="2" charset="2"/>
              <a:buChar char="Ø"/>
            </a:pPr>
            <a:r>
              <a:rPr lang="en-US" sz="2000" dirty="0" smtClean="0"/>
              <a:t>Manage The company details.  </a:t>
            </a:r>
          </a:p>
        </p:txBody>
      </p:sp>
    </p:spTree>
  </p:cSld>
  <p:clrMapOvr>
    <a:masterClrMapping/>
  </p:clrMapOvr>
  <p:transition>
    <p:wipe dir="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Objectives System</a:t>
            </a:r>
            <a:endParaRPr lang="en-US" dirty="0"/>
          </a:p>
        </p:txBody>
      </p:sp>
      <p:sp>
        <p:nvSpPr>
          <p:cNvPr id="3" name="Content Placeholder 2"/>
          <p:cNvSpPr>
            <a:spLocks noGrp="1"/>
          </p:cNvSpPr>
          <p:nvPr>
            <p:ph idx="1"/>
          </p:nvPr>
        </p:nvSpPr>
        <p:spPr/>
        <p:txBody>
          <a:bodyPr>
            <a:normAutofit fontScale="77500" lnSpcReduction="20000"/>
          </a:bodyPr>
          <a:lstStyle/>
          <a:p>
            <a:pPr>
              <a:lnSpc>
                <a:spcPct val="150000"/>
              </a:lnSpc>
              <a:buFont typeface="Arial" pitchFamily="34" charset="0"/>
              <a:buChar char="•"/>
            </a:pPr>
            <a:r>
              <a:rPr lang="en-US" dirty="0" smtClean="0"/>
              <a:t>The "Pharmacy Management  &amp; Billing System" that will be used for maintaining the records in an organized manner and to replace all paper work system.</a:t>
            </a:r>
          </a:p>
          <a:p>
            <a:pPr lvl="0">
              <a:lnSpc>
                <a:spcPct val="150000"/>
              </a:lnSpc>
              <a:buFont typeface="Wingdings" pitchFamily="2" charset="2"/>
              <a:buChar char="Ø"/>
            </a:pPr>
            <a:r>
              <a:rPr lang="en-US" dirty="0" smtClean="0"/>
              <a:t>It is the User  friendly application for Pharmacist. Which reduces the  burden and help to Manage all sections of pharmacy  like Medicine Management and Billing etc.</a:t>
            </a:r>
          </a:p>
          <a:p>
            <a:pPr lvl="0">
              <a:lnSpc>
                <a:spcPct val="150000"/>
              </a:lnSpc>
              <a:buFont typeface="Wingdings" pitchFamily="2" charset="2"/>
              <a:buChar char="Ø"/>
            </a:pPr>
            <a:r>
              <a:rPr lang="en-US" dirty="0" smtClean="0"/>
              <a:t>It deals with the automating tasks of maintaining of Bills.</a:t>
            </a:r>
          </a:p>
          <a:p>
            <a:pPr lvl="0">
              <a:lnSpc>
                <a:spcPct val="150000"/>
              </a:lnSpc>
              <a:buFont typeface="Wingdings" pitchFamily="2" charset="2"/>
              <a:buChar char="Ø"/>
            </a:pPr>
            <a:r>
              <a:rPr lang="en-US" dirty="0" smtClean="0"/>
              <a:t>In Pharmacy, Bill Management is the process, Including safe data store about medicine as well as fast searching , Delete and Update of medicines.</a:t>
            </a:r>
          </a:p>
          <a:p>
            <a:pPr>
              <a:buFont typeface="Wingdings" pitchFamily="2" charset="2"/>
              <a:buChar char="Ø"/>
            </a:pPr>
            <a:endParaRPr lang="en-US" dirty="0"/>
          </a:p>
        </p:txBody>
      </p:sp>
    </p:spTree>
  </p:cSld>
  <p:clrMapOvr>
    <a:masterClrMapping/>
  </p:clrMapOvr>
  <p:transition>
    <p:wedg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buFont typeface="Wingdings" pitchFamily="2" charset="2"/>
              <a:buChar char="v"/>
            </a:pPr>
            <a:r>
              <a:rPr lang="en-US" dirty="0" err="1" smtClean="0"/>
              <a:t>Stackholder</a:t>
            </a:r>
            <a:r>
              <a:rPr lang="en-US" dirty="0" smtClean="0"/>
              <a:t> of System</a:t>
            </a:r>
            <a:endParaRPr lang="en-US" dirty="0"/>
          </a:p>
        </p:txBody>
      </p:sp>
      <p:sp>
        <p:nvSpPr>
          <p:cNvPr id="3" name="Content Placeholder 2"/>
          <p:cNvSpPr>
            <a:spLocks noGrp="1"/>
          </p:cNvSpPr>
          <p:nvPr>
            <p:ph idx="1"/>
          </p:nvPr>
        </p:nvSpPr>
        <p:spPr/>
        <p:txBody>
          <a:bodyPr/>
          <a:lstStyle/>
          <a:p>
            <a:pPr lvl="0">
              <a:buFont typeface="Wingdings" pitchFamily="2" charset="2"/>
              <a:buChar char="q"/>
            </a:pPr>
            <a:r>
              <a:rPr lang="en-US" b="1" u="sng" dirty="0" smtClean="0"/>
              <a:t>Admin :-</a:t>
            </a:r>
          </a:p>
          <a:p>
            <a:pPr lvl="1">
              <a:lnSpc>
                <a:spcPct val="150000"/>
              </a:lnSpc>
              <a:buFont typeface="Wingdings" pitchFamily="2" charset="2"/>
              <a:buChar char="Ø"/>
            </a:pPr>
            <a:r>
              <a:rPr lang="en-US" sz="2000" dirty="0" smtClean="0"/>
              <a:t>Admin observe day to day activity of the shop at every level. Admin maintain the whole system.</a:t>
            </a:r>
          </a:p>
          <a:p>
            <a:pPr lvl="1">
              <a:lnSpc>
                <a:spcPct val="150000"/>
              </a:lnSpc>
              <a:buFont typeface="Wingdings" pitchFamily="2" charset="2"/>
              <a:buChar char="Ø"/>
            </a:pPr>
            <a:r>
              <a:rPr lang="en-US" sz="2000" dirty="0" smtClean="0"/>
              <a:t>Admin Can Manage The stock of Medicine, Admin can Add the Medicine, Remove the Medicine and Update The Medicine.</a:t>
            </a:r>
          </a:p>
          <a:p>
            <a:pPr lvl="1">
              <a:lnSpc>
                <a:spcPct val="150000"/>
              </a:lnSpc>
              <a:buFont typeface="Wingdings" pitchFamily="2" charset="2"/>
              <a:buChar char="Ø"/>
            </a:pPr>
            <a:r>
              <a:rPr lang="en-US" sz="2000" dirty="0" smtClean="0"/>
              <a:t>Admin Generate Bill for Customer On buying Medicine.</a:t>
            </a:r>
          </a:p>
          <a:p>
            <a:pPr lvl="1">
              <a:lnSpc>
                <a:spcPct val="150000"/>
              </a:lnSpc>
              <a:buFont typeface="Wingdings" pitchFamily="2" charset="2"/>
              <a:buChar char="Ø"/>
            </a:pPr>
            <a:r>
              <a:rPr lang="en-US" sz="2000" dirty="0" smtClean="0"/>
              <a:t>Admin can also generate the report of profit.</a:t>
            </a:r>
          </a:p>
          <a:p>
            <a:pPr lvl="0">
              <a:buFont typeface="Wingdings" pitchFamily="2" charset="2"/>
              <a:buChar char="q"/>
            </a:pPr>
            <a:endParaRPr lang="en-US" dirty="0" smtClean="0"/>
          </a:p>
          <a:p>
            <a:pPr>
              <a:buFont typeface="Wingdings" pitchFamily="2" charset="2"/>
              <a:buChar char="q"/>
            </a:pPr>
            <a:endParaRPr lang="en-US" dirty="0"/>
          </a:p>
        </p:txBody>
      </p:sp>
    </p:spTree>
  </p:cSld>
  <p:clrMapOvr>
    <a:masterClrMapping/>
  </p:clrMapOvr>
  <p:transition>
    <p:fade thruBlk="1"/>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buFont typeface="Wingdings" pitchFamily="2" charset="2"/>
              <a:buChar char="v"/>
            </a:pPr>
            <a:r>
              <a:rPr lang="en-US" dirty="0" smtClean="0"/>
              <a:t> PROJECT DEFINITION</a:t>
            </a:r>
            <a:endParaRPr lang="en-US" dirty="0"/>
          </a:p>
        </p:txBody>
      </p:sp>
      <p:sp>
        <p:nvSpPr>
          <p:cNvPr id="3" name="Content Placeholder 2"/>
          <p:cNvSpPr>
            <a:spLocks noGrp="1"/>
          </p:cNvSpPr>
          <p:nvPr>
            <p:ph idx="1"/>
          </p:nvPr>
        </p:nvSpPr>
        <p:spPr/>
        <p:txBody>
          <a:bodyPr>
            <a:normAutofit fontScale="92500" lnSpcReduction="10000"/>
          </a:bodyPr>
          <a:lstStyle/>
          <a:p>
            <a:pPr lvl="0">
              <a:buFont typeface="Wingdings" pitchFamily="2" charset="2"/>
              <a:buChar char="q"/>
            </a:pPr>
            <a:r>
              <a:rPr lang="en-US" b="1" dirty="0" smtClean="0"/>
              <a:t>User-Friendly :</a:t>
            </a:r>
            <a:endParaRPr lang="en-US" dirty="0" smtClean="0"/>
          </a:p>
          <a:p>
            <a:pPr lvl="1">
              <a:lnSpc>
                <a:spcPct val="150000"/>
              </a:lnSpc>
              <a:buFont typeface="Wingdings" pitchFamily="2" charset="2"/>
              <a:buChar char="Ø"/>
            </a:pPr>
            <a:r>
              <a:rPr lang="en-US" sz="2000" dirty="0" smtClean="0"/>
              <a:t>Is the way the built System tem is not ambiguous which is clear for using the created software interface for manipulating actions or tasks. In the other way the proposed System is designed for human likable components in color, font and other related things.</a:t>
            </a:r>
          </a:p>
          <a:p>
            <a:pPr lvl="0">
              <a:buFont typeface="Wingdings" pitchFamily="2" charset="2"/>
              <a:buChar char="q"/>
            </a:pPr>
            <a:r>
              <a:rPr lang="en-US" b="1" dirty="0" smtClean="0"/>
              <a:t>Manual based System :</a:t>
            </a:r>
          </a:p>
          <a:p>
            <a:pPr lvl="1">
              <a:lnSpc>
                <a:spcPct val="150000"/>
              </a:lnSpc>
              <a:buFont typeface="Wingdings" pitchFamily="2" charset="2"/>
              <a:buChar char="Ø"/>
            </a:pPr>
            <a:r>
              <a:rPr lang="en-US" sz="2000" dirty="0" smtClean="0"/>
              <a:t>The system that uses was paper based and arranged on the shelf through functionality of documents. Everything that is arranged, searched, updated and deleted is through humans only. In general manual based system.</a:t>
            </a:r>
          </a:p>
          <a:p>
            <a:pPr lvl="1">
              <a:buFont typeface="Wingdings" pitchFamily="2" charset="2"/>
              <a:buChar char="Ø"/>
            </a:pPr>
            <a:endParaRPr lang="en-US" dirty="0" smtClean="0"/>
          </a:p>
          <a:p>
            <a:endParaRPr lang="en-US" dirty="0"/>
          </a:p>
        </p:txBody>
      </p:sp>
    </p:spTree>
  </p:cSld>
  <p:clrMapOvr>
    <a:masterClrMapping/>
  </p:clrMapOvr>
  <p:transition>
    <p:fade thruBlk="1"/>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buFont typeface="Wingdings" pitchFamily="2" charset="2"/>
              <a:buChar char="v"/>
            </a:pPr>
            <a:r>
              <a:rPr lang="en-US" dirty="0" smtClean="0"/>
              <a:t>PROJECT DEFINITION</a:t>
            </a:r>
            <a:endParaRPr lang="en-US" dirty="0"/>
          </a:p>
        </p:txBody>
      </p:sp>
      <p:sp>
        <p:nvSpPr>
          <p:cNvPr id="3" name="Content Placeholder 2"/>
          <p:cNvSpPr>
            <a:spLocks noGrp="1"/>
          </p:cNvSpPr>
          <p:nvPr>
            <p:ph idx="1"/>
          </p:nvPr>
        </p:nvSpPr>
        <p:spPr/>
        <p:txBody>
          <a:bodyPr/>
          <a:lstStyle/>
          <a:p>
            <a:pPr lvl="0">
              <a:buFont typeface="Wingdings" pitchFamily="2" charset="2"/>
              <a:buChar char="q"/>
            </a:pPr>
            <a:r>
              <a:rPr lang="en-US" b="1" dirty="0" smtClean="0"/>
              <a:t>Pharmacist :</a:t>
            </a:r>
            <a:endParaRPr lang="en-US" dirty="0" smtClean="0"/>
          </a:p>
          <a:p>
            <a:pPr lvl="1">
              <a:lnSpc>
                <a:spcPct val="150000"/>
              </a:lnSpc>
              <a:buFont typeface="Wingdings" pitchFamily="2" charset="2"/>
              <a:buChar char="Ø"/>
            </a:pPr>
            <a:r>
              <a:rPr lang="en-US" sz="2000" dirty="0" smtClean="0"/>
              <a:t>The profession who have knowledge on the medicine usage, instruction for use those medicines for the particular diseases and other related things</a:t>
            </a:r>
            <a:r>
              <a:rPr lang="en-US" dirty="0" smtClean="0"/>
              <a:t>.</a:t>
            </a:r>
          </a:p>
          <a:p>
            <a:pPr lvl="0">
              <a:buFont typeface="Wingdings" pitchFamily="2" charset="2"/>
              <a:buChar char="q"/>
            </a:pPr>
            <a:r>
              <a:rPr lang="en-US" b="1" dirty="0" smtClean="0"/>
              <a:t>Management System :</a:t>
            </a:r>
            <a:endParaRPr lang="en-US" dirty="0" smtClean="0"/>
          </a:p>
          <a:p>
            <a:pPr lvl="1">
              <a:lnSpc>
                <a:spcPct val="150000"/>
              </a:lnSpc>
              <a:buFont typeface="Wingdings" pitchFamily="2" charset="2"/>
              <a:buChar char="Ø"/>
            </a:pPr>
            <a:r>
              <a:rPr lang="en-US" sz="2000" dirty="0" smtClean="0"/>
              <a:t>A System in which manage, organize, formulate data’s through a technical data structure arrangement.</a:t>
            </a:r>
          </a:p>
          <a:p>
            <a:pPr lvl="1">
              <a:buNone/>
            </a:pPr>
            <a:endParaRPr lang="en-US" dirty="0" smtClean="0"/>
          </a:p>
        </p:txBody>
      </p:sp>
    </p:spTree>
  </p:cSld>
  <p:clrMapOvr>
    <a:masterClrMapping/>
  </p:clrMapOvr>
  <p:transition>
    <p:fade thruBlk="1"/>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PROJECT DEFINITION</a:t>
            </a:r>
            <a:endParaRPr lang="en-US" dirty="0"/>
          </a:p>
        </p:txBody>
      </p:sp>
      <p:sp>
        <p:nvSpPr>
          <p:cNvPr id="3" name="Content Placeholder 2"/>
          <p:cNvSpPr>
            <a:spLocks noGrp="1"/>
          </p:cNvSpPr>
          <p:nvPr>
            <p:ph idx="1"/>
          </p:nvPr>
        </p:nvSpPr>
        <p:spPr/>
        <p:txBody>
          <a:bodyPr/>
          <a:lstStyle/>
          <a:p>
            <a:pPr lvl="0">
              <a:buFont typeface="Wingdings" pitchFamily="2" charset="2"/>
              <a:buChar char="q"/>
            </a:pPr>
            <a:r>
              <a:rPr lang="en-US" b="1" dirty="0" smtClean="0"/>
              <a:t>Billing :</a:t>
            </a:r>
            <a:endParaRPr lang="en-US" dirty="0" smtClean="0"/>
          </a:p>
          <a:p>
            <a:pPr lvl="1">
              <a:lnSpc>
                <a:spcPct val="150000"/>
              </a:lnSpc>
              <a:buFont typeface="Wingdings" pitchFamily="2" charset="2"/>
              <a:buChar char="Ø"/>
            </a:pPr>
            <a:r>
              <a:rPr lang="en-US" sz="2000" dirty="0" smtClean="0"/>
              <a:t>The way in which generating paper which store information about some specific data containing details explanation.</a:t>
            </a:r>
          </a:p>
          <a:p>
            <a:pPr lvl="1">
              <a:lnSpc>
                <a:spcPct val="150000"/>
              </a:lnSpc>
              <a:buNone/>
            </a:pPr>
            <a:r>
              <a:rPr lang="en-US" sz="2000" dirty="0" smtClean="0"/>
              <a:t>In this System only Admin module.</a:t>
            </a:r>
          </a:p>
          <a:p>
            <a:pPr lvl="1">
              <a:buFont typeface="Wingdings" pitchFamily="2" charset="2"/>
              <a:buChar char="Ø"/>
            </a:pPr>
            <a:endParaRPr lang="en-US" dirty="0"/>
          </a:p>
        </p:txBody>
      </p:sp>
    </p:spTree>
  </p:cSld>
  <p:clrMapOvr>
    <a:masterClrMapping/>
  </p:clrMapOvr>
  <p:transition>
    <p:fade thruBlk="1"/>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buFont typeface="Wingdings" pitchFamily="2" charset="2"/>
              <a:buChar char="v"/>
            </a:pPr>
            <a:r>
              <a:rPr lang="en-US" dirty="0" smtClean="0"/>
              <a:t>Feasibility Study</a:t>
            </a:r>
            <a:endParaRPr lang="en-US" dirty="0"/>
          </a:p>
        </p:txBody>
      </p:sp>
      <p:sp>
        <p:nvSpPr>
          <p:cNvPr id="3" name="Content Placeholder 2"/>
          <p:cNvSpPr>
            <a:spLocks noGrp="1"/>
          </p:cNvSpPr>
          <p:nvPr>
            <p:ph idx="1"/>
          </p:nvPr>
        </p:nvSpPr>
        <p:spPr/>
        <p:txBody>
          <a:bodyPr/>
          <a:lstStyle/>
          <a:p>
            <a:pPr>
              <a:buFont typeface="Wingdings" pitchFamily="2" charset="2"/>
              <a:buChar char="q"/>
            </a:pPr>
            <a:r>
              <a:rPr lang="en-US" dirty="0" smtClean="0"/>
              <a:t>Technical feasibility :</a:t>
            </a:r>
          </a:p>
          <a:p>
            <a:pPr lvl="1">
              <a:lnSpc>
                <a:spcPct val="150000"/>
              </a:lnSpc>
              <a:buFont typeface="Wingdings" pitchFamily="2" charset="2"/>
              <a:buChar char="Ø"/>
            </a:pPr>
            <a:r>
              <a:rPr lang="en-US" sz="2000" dirty="0" smtClean="0"/>
              <a:t>The technical feasibility study compares the level of technology available in the software development form and the level of technology required for the development of the product. Here, the level of technology consists of the programming language, the hardware resources, other software tools, etc.</a:t>
            </a:r>
            <a:endParaRPr lang="en-US" sz="2000" dirty="0"/>
          </a:p>
        </p:txBody>
      </p:sp>
    </p:spTree>
  </p:cSld>
  <p:clrMapOvr>
    <a:masterClrMapping/>
  </p:clrMapOvr>
  <p:transition>
    <p:fade thruBlk="1"/>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buFont typeface="Wingdings" pitchFamily="2" charset="2"/>
              <a:buChar char="v"/>
            </a:pPr>
            <a:r>
              <a:rPr lang="en-US" dirty="0" smtClean="0"/>
              <a:t>Feasibility Study</a:t>
            </a:r>
            <a:endParaRPr lang="en-US" dirty="0"/>
          </a:p>
        </p:txBody>
      </p:sp>
      <p:sp>
        <p:nvSpPr>
          <p:cNvPr id="3" name="Content Placeholder 2"/>
          <p:cNvSpPr>
            <a:spLocks noGrp="1"/>
          </p:cNvSpPr>
          <p:nvPr>
            <p:ph idx="1"/>
          </p:nvPr>
        </p:nvSpPr>
        <p:spPr/>
        <p:txBody>
          <a:bodyPr/>
          <a:lstStyle/>
          <a:p>
            <a:pPr>
              <a:buFont typeface="Wingdings" pitchFamily="2" charset="2"/>
              <a:buChar char="q"/>
            </a:pPr>
            <a:r>
              <a:rPr lang="en-US" dirty="0" smtClean="0"/>
              <a:t>ECONOMIC FEASIBILITY :</a:t>
            </a:r>
          </a:p>
          <a:p>
            <a:pPr lvl="1">
              <a:lnSpc>
                <a:spcPct val="150000"/>
              </a:lnSpc>
              <a:buFont typeface="Wingdings" pitchFamily="2" charset="2"/>
              <a:buChar char="Ø"/>
            </a:pPr>
            <a:r>
              <a:rPr lang="en-US" sz="2000" dirty="0" smtClean="0"/>
              <a:t>The economic feasibility study evaluates the cost of the software development against the ultimate income or benefits gets from the developed system. There must be scope for profit after the successful completion of the project</a:t>
            </a:r>
            <a:endParaRPr lang="en-US" sz="2000" dirty="0"/>
          </a:p>
        </p:txBody>
      </p:sp>
    </p:spTree>
  </p:cSld>
  <p:clrMapOvr>
    <a:masterClrMapping/>
  </p:clrMapOvr>
  <p:transition advTm="1000">
    <p:fade thruBlk="1"/>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buFont typeface="Wingdings" pitchFamily="2" charset="2"/>
              <a:buChar char="v"/>
            </a:pPr>
            <a:r>
              <a:rPr lang="en-US" dirty="0" smtClean="0"/>
              <a:t>Feasibility Study</a:t>
            </a:r>
            <a:endParaRPr lang="en-US" dirty="0"/>
          </a:p>
        </p:txBody>
      </p:sp>
      <p:sp>
        <p:nvSpPr>
          <p:cNvPr id="3" name="Content Placeholder 2"/>
          <p:cNvSpPr>
            <a:spLocks noGrp="1"/>
          </p:cNvSpPr>
          <p:nvPr>
            <p:ph idx="1"/>
          </p:nvPr>
        </p:nvSpPr>
        <p:spPr/>
        <p:txBody>
          <a:bodyPr/>
          <a:lstStyle/>
          <a:p>
            <a:r>
              <a:rPr lang="en-US" dirty="0" smtClean="0"/>
              <a:t>Operational feasibility :</a:t>
            </a:r>
          </a:p>
          <a:p>
            <a:pPr lvl="1">
              <a:lnSpc>
                <a:spcPct val="150000"/>
              </a:lnSpc>
              <a:buFont typeface="Wingdings" pitchFamily="2" charset="2"/>
              <a:buChar char="Ø"/>
            </a:pPr>
            <a:r>
              <a:rPr lang="en-US" sz="2000" dirty="0" smtClean="0"/>
              <a:t>Operational feasibility study tests the operational scope of the software developed. It is checked that if the system is actually can be </a:t>
            </a:r>
            <a:r>
              <a:rPr lang="en-US" sz="2000" dirty="0" err="1" smtClean="0"/>
              <a:t>usefull</a:t>
            </a:r>
            <a:r>
              <a:rPr lang="en-US" sz="2000" dirty="0" smtClean="0"/>
              <a:t> when implemented and how it satisfies the requirements identified in the requirements analysis phase of system development.</a:t>
            </a:r>
            <a:endParaRPr lang="en-US" sz="2000" dirty="0"/>
          </a:p>
        </p:txBody>
      </p:sp>
    </p:spTree>
  </p:cSld>
  <p:clrMapOvr>
    <a:masterClrMapping/>
  </p:clrMapOvr>
  <p:transition>
    <p:fade thruBlk="1"/>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buFont typeface="Wingdings" pitchFamily="2" charset="2"/>
              <a:buChar char="v"/>
            </a:pPr>
            <a:r>
              <a:rPr lang="en-US" dirty="0" smtClean="0"/>
              <a:t>Hardware-Software Requirement</a:t>
            </a:r>
            <a:endParaRPr lang="en-US" dirty="0"/>
          </a:p>
        </p:txBody>
      </p:sp>
      <p:sp>
        <p:nvSpPr>
          <p:cNvPr id="3" name="Content Placeholder 2"/>
          <p:cNvSpPr>
            <a:spLocks noGrp="1"/>
          </p:cNvSpPr>
          <p:nvPr>
            <p:ph idx="1"/>
          </p:nvPr>
        </p:nvSpPr>
        <p:spPr/>
        <p:txBody>
          <a:bodyPr/>
          <a:lstStyle/>
          <a:p>
            <a:pPr>
              <a:buFont typeface="Wingdings" pitchFamily="2" charset="2"/>
              <a:buChar char="q"/>
            </a:pPr>
            <a:r>
              <a:rPr lang="en-US" dirty="0" smtClean="0"/>
              <a:t>Software Configuration : </a:t>
            </a:r>
            <a:endParaRPr lang="en-US" dirty="0"/>
          </a:p>
        </p:txBody>
      </p:sp>
      <p:graphicFrame>
        <p:nvGraphicFramePr>
          <p:cNvPr id="4" name="Table 3"/>
          <p:cNvGraphicFramePr>
            <a:graphicFrameLocks noGrp="1"/>
          </p:cNvGraphicFramePr>
          <p:nvPr/>
        </p:nvGraphicFramePr>
        <p:xfrm>
          <a:off x="1524000" y="2590800"/>
          <a:ext cx="6096000" cy="2499360"/>
        </p:xfrm>
        <a:graphic>
          <a:graphicData uri="http://schemas.openxmlformats.org/drawingml/2006/table">
            <a:tbl>
              <a:tblPr firstRow="1" bandRow="1">
                <a:tableStyleId>{5C22544A-7EE6-4342-B048-85BDC9FD1C3A}</a:tableStyleId>
              </a:tblPr>
              <a:tblGrid>
                <a:gridCol w="3048000"/>
                <a:gridCol w="3048000"/>
              </a:tblGrid>
              <a:tr h="416560">
                <a:tc gridSpan="2">
                  <a:txBody>
                    <a:bodyPr/>
                    <a:lstStyle/>
                    <a:p>
                      <a:pPr algn="ctr"/>
                      <a:r>
                        <a:rPr lang="en-US" dirty="0" smtClean="0"/>
                        <a:t>Requirement</a:t>
                      </a:r>
                      <a:endParaRPr lang="en-US" dirty="0"/>
                    </a:p>
                  </a:txBody>
                  <a:tcPr/>
                </a:tc>
                <a:tc hMerge="1">
                  <a:txBody>
                    <a:bodyPr/>
                    <a:lstStyle/>
                    <a:p>
                      <a:endParaRPr lang="en-US" dirty="0"/>
                    </a:p>
                  </a:txBody>
                  <a:tcPr/>
                </a:tc>
              </a:tr>
              <a:tr h="416560">
                <a:tc>
                  <a:txBody>
                    <a:bodyPr/>
                    <a:lstStyle/>
                    <a:p>
                      <a:pPr algn="ctr"/>
                      <a:r>
                        <a:rPr lang="en-US" dirty="0" smtClean="0"/>
                        <a:t>Operating System</a:t>
                      </a:r>
                      <a:endParaRPr lang="en-US" dirty="0"/>
                    </a:p>
                  </a:txBody>
                  <a:tcPr/>
                </a:tc>
                <a:tc>
                  <a:txBody>
                    <a:bodyPr/>
                    <a:lstStyle/>
                    <a:p>
                      <a:pPr algn="ctr"/>
                      <a:r>
                        <a:rPr lang="en-US" dirty="0" smtClean="0"/>
                        <a:t>Windows, Linux, Mac</a:t>
                      </a:r>
                      <a:endParaRPr lang="en-US" dirty="0"/>
                    </a:p>
                  </a:txBody>
                  <a:tcPr/>
                </a:tc>
              </a:tr>
              <a:tr h="416560">
                <a:tc>
                  <a:txBody>
                    <a:bodyPr/>
                    <a:lstStyle/>
                    <a:p>
                      <a:pPr algn="ctr"/>
                      <a:r>
                        <a:rPr lang="en-US" dirty="0" err="1" smtClean="0"/>
                        <a:t>DataBase</a:t>
                      </a:r>
                      <a:endParaRPr lang="en-US" dirty="0"/>
                    </a:p>
                  </a:txBody>
                  <a:tcPr/>
                </a:tc>
                <a:tc>
                  <a:txBody>
                    <a:bodyPr/>
                    <a:lstStyle/>
                    <a:p>
                      <a:pPr algn="ctr"/>
                      <a:r>
                        <a:rPr lang="en-US" dirty="0" smtClean="0"/>
                        <a:t>Java DB</a:t>
                      </a:r>
                      <a:endParaRPr lang="en-US" dirty="0"/>
                    </a:p>
                  </a:txBody>
                  <a:tcPr/>
                </a:tc>
              </a:tr>
              <a:tr h="416560">
                <a:tc>
                  <a:txBody>
                    <a:bodyPr/>
                    <a:lstStyle/>
                    <a:p>
                      <a:pPr algn="ctr"/>
                      <a:r>
                        <a:rPr lang="en-US" dirty="0" smtClean="0"/>
                        <a:t>Runtime Environment</a:t>
                      </a:r>
                      <a:endParaRPr lang="en-US" dirty="0"/>
                    </a:p>
                  </a:txBody>
                  <a:tcPr/>
                </a:tc>
                <a:tc>
                  <a:txBody>
                    <a:bodyPr/>
                    <a:lstStyle/>
                    <a:p>
                      <a:pPr algn="ctr"/>
                      <a:r>
                        <a:rPr lang="en-US" smtClean="0"/>
                        <a:t>NetBean</a:t>
                      </a:r>
                      <a:endParaRPr lang="en-US" dirty="0"/>
                    </a:p>
                  </a:txBody>
                  <a:tcPr/>
                </a:tc>
              </a:tr>
              <a:tr h="416560">
                <a:tc>
                  <a:txBody>
                    <a:bodyPr/>
                    <a:lstStyle/>
                    <a:p>
                      <a:pPr algn="ctr"/>
                      <a:r>
                        <a:rPr lang="en-US" dirty="0" smtClean="0"/>
                        <a:t>Back-end Tool</a:t>
                      </a:r>
                      <a:endParaRPr lang="en-US" dirty="0"/>
                    </a:p>
                  </a:txBody>
                  <a:tcPr/>
                </a:tc>
                <a:tc>
                  <a:txBody>
                    <a:bodyPr/>
                    <a:lstStyle/>
                    <a:p>
                      <a:pPr algn="ctr"/>
                      <a:r>
                        <a:rPr lang="en-US" dirty="0" smtClean="0"/>
                        <a:t>java</a:t>
                      </a:r>
                      <a:endParaRPr lang="en-US" dirty="0"/>
                    </a:p>
                  </a:txBody>
                  <a:tcPr/>
                </a:tc>
              </a:tr>
              <a:tr h="416560">
                <a:tc>
                  <a:txBody>
                    <a:bodyPr/>
                    <a:lstStyle/>
                    <a:p>
                      <a:pPr algn="ctr"/>
                      <a:r>
                        <a:rPr lang="en-US" dirty="0" smtClean="0"/>
                        <a:t>Front-end Tool</a:t>
                      </a:r>
                      <a:endParaRPr lang="en-US" dirty="0"/>
                    </a:p>
                  </a:txBody>
                  <a:tcPr/>
                </a:tc>
                <a:tc>
                  <a:txBody>
                    <a:bodyPr/>
                    <a:lstStyle/>
                    <a:p>
                      <a:pPr algn="ctr"/>
                      <a:r>
                        <a:rPr lang="en-US" dirty="0" smtClean="0"/>
                        <a:t>Java</a:t>
                      </a:r>
                      <a:endParaRPr lang="en-US" dirty="0"/>
                    </a:p>
                  </a:txBody>
                  <a:tcPr/>
                </a:tc>
              </a:tr>
            </a:tbl>
          </a:graphicData>
        </a:graphic>
      </p:graphicFrame>
    </p:spTree>
  </p:cSld>
  <p:clrMapOvr>
    <a:masterClrMapping/>
  </p:clrMapOvr>
  <p:transition>
    <p:fade thruBlk="1"/>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buFont typeface="Wingdings" pitchFamily="2" charset="2"/>
              <a:buChar char="v"/>
            </a:pPr>
            <a:r>
              <a:rPr lang="en-US" dirty="0" smtClean="0"/>
              <a:t>System Planning</a:t>
            </a:r>
            <a:endParaRPr lang="en-US" dirty="0"/>
          </a:p>
        </p:txBody>
      </p:sp>
      <p:sp>
        <p:nvSpPr>
          <p:cNvPr id="3" name="Content Placeholder 2"/>
          <p:cNvSpPr>
            <a:spLocks noGrp="1"/>
          </p:cNvSpPr>
          <p:nvPr>
            <p:ph idx="1"/>
          </p:nvPr>
        </p:nvSpPr>
        <p:spPr/>
        <p:txBody>
          <a:bodyPr>
            <a:normAutofit/>
          </a:bodyPr>
          <a:lstStyle/>
          <a:p>
            <a:pPr>
              <a:buFont typeface="Wingdings" pitchFamily="2" charset="2"/>
              <a:buChar char="q"/>
            </a:pPr>
            <a:r>
              <a:rPr lang="en-US" dirty="0" smtClean="0"/>
              <a:t>Work Breakdown Structure:</a:t>
            </a:r>
          </a:p>
          <a:p>
            <a:pPr lvl="1">
              <a:lnSpc>
                <a:spcPct val="150000"/>
              </a:lnSpc>
              <a:buFont typeface="Wingdings" pitchFamily="2" charset="2"/>
              <a:buChar char="Ø"/>
            </a:pPr>
            <a:r>
              <a:rPr lang="en-US" sz="2000" dirty="0" smtClean="0"/>
              <a:t>Dividing complex projects to simpler and manageable tasks is the process identified as Work Breakdown Structure. </a:t>
            </a:r>
          </a:p>
          <a:p>
            <a:pPr lvl="1">
              <a:lnSpc>
                <a:spcPct val="150000"/>
              </a:lnSpc>
              <a:buFont typeface="Wingdings" pitchFamily="2" charset="2"/>
              <a:buChar char="Ø"/>
            </a:pPr>
            <a:r>
              <a:rPr lang="en-US" sz="2000" dirty="0" smtClean="0"/>
              <a:t>Usually, the project managers use this method for simplifying the project execution. In WBS, much Larger tasks are broken down to manageable chunks of work. These chunks can be easily supervised and estimated.</a:t>
            </a:r>
            <a:endParaRPr lang="en-US" sz="2000" dirty="0"/>
          </a:p>
        </p:txBody>
      </p:sp>
    </p:spTree>
  </p:cSld>
  <p:clrMapOvr>
    <a:masterClrMapping/>
  </p:clrMapOvr>
  <p:transition>
    <p:fade thruBlk="1"/>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438400"/>
            <a:ext cx="8229600" cy="1143000"/>
          </a:xfrm>
        </p:spPr>
        <p:txBody>
          <a:bodyPr>
            <a:normAutofit fontScale="90000"/>
          </a:bodyPr>
          <a:lstStyle/>
          <a:p>
            <a:pPr>
              <a:buFont typeface="Wingdings" pitchFamily="2" charset="2"/>
              <a:buChar char="v"/>
            </a:pPr>
            <a:r>
              <a:rPr lang="en-US" dirty="0" smtClean="0"/>
              <a:t>SYSTEM ANALYSIS AND DESIGN</a:t>
            </a:r>
            <a:endParaRPr lang="en-US" dirty="0"/>
          </a:p>
        </p:txBody>
      </p:sp>
    </p:spTree>
  </p:cSld>
  <p:clrMapOvr>
    <a:masterClrMapping/>
  </p:clrMapOvr>
  <p:transition>
    <p:fade thruBlk="1"/>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591312"/>
          </a:xfrm>
        </p:spPr>
        <p:txBody>
          <a:bodyPr/>
          <a:lstStyle/>
          <a:p>
            <a:r>
              <a:rPr lang="en-US" sz="2800" dirty="0" smtClean="0"/>
              <a:t>Use case Diagram : </a:t>
            </a:r>
            <a:endParaRPr lang="en-US" sz="2800" dirty="0"/>
          </a:p>
        </p:txBody>
      </p:sp>
      <p:pic>
        <p:nvPicPr>
          <p:cNvPr id="4" name="Content Placeholder 3" descr="moin.jpeg"/>
          <p:cNvPicPr>
            <a:picLocks noGrp="1" noChangeAspect="1"/>
          </p:cNvPicPr>
          <p:nvPr>
            <p:ph idx="1"/>
          </p:nvPr>
        </p:nvPicPr>
        <p:blipFill>
          <a:blip r:embed="rId2"/>
          <a:stretch>
            <a:fillRect/>
          </a:stretch>
        </p:blipFill>
        <p:spPr>
          <a:xfrm>
            <a:off x="1568734" y="1371600"/>
            <a:ext cx="6006531" cy="4953000"/>
          </a:xfrm>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515112"/>
          </a:xfrm>
        </p:spPr>
        <p:txBody>
          <a:bodyPr/>
          <a:lstStyle/>
          <a:p>
            <a:r>
              <a:rPr lang="en-US" sz="2800" dirty="0" smtClean="0"/>
              <a:t>Class diagram :</a:t>
            </a:r>
            <a:endParaRPr lang="en-US" sz="2800" dirty="0"/>
          </a:p>
        </p:txBody>
      </p:sp>
      <p:pic>
        <p:nvPicPr>
          <p:cNvPr id="4" name="Content Placeholder 3" descr="ClassDiagram.jpeg"/>
          <p:cNvPicPr>
            <a:picLocks noGrp="1" noChangeAspect="1"/>
          </p:cNvPicPr>
          <p:nvPr>
            <p:ph idx="1"/>
          </p:nvPr>
        </p:nvPicPr>
        <p:blipFill>
          <a:blip r:embed="rId2"/>
          <a:stretch>
            <a:fillRect/>
          </a:stretch>
        </p:blipFill>
        <p:spPr>
          <a:xfrm>
            <a:off x="609600" y="1219200"/>
            <a:ext cx="7162799" cy="5638800"/>
          </a:xfrm>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515112"/>
          </a:xfrm>
        </p:spPr>
        <p:txBody>
          <a:bodyPr/>
          <a:lstStyle/>
          <a:p>
            <a:r>
              <a:rPr lang="en-US" sz="2800" dirty="0" smtClean="0"/>
              <a:t>Activity Diagram : </a:t>
            </a:r>
            <a:endParaRPr lang="en-US" sz="2800" dirty="0"/>
          </a:p>
        </p:txBody>
      </p:sp>
      <p:pic>
        <p:nvPicPr>
          <p:cNvPr id="4" name="Content Placeholder 3" descr="ActivityDiagram.jpeg"/>
          <p:cNvPicPr>
            <a:picLocks noGrp="1" noChangeAspect="1"/>
          </p:cNvPicPr>
          <p:nvPr>
            <p:ph idx="1"/>
          </p:nvPr>
        </p:nvPicPr>
        <p:blipFill>
          <a:blip r:embed="rId2"/>
          <a:stretch>
            <a:fillRect/>
          </a:stretch>
        </p:blipFill>
        <p:spPr>
          <a:xfrm>
            <a:off x="2041599" y="1219200"/>
            <a:ext cx="5654601" cy="5638800"/>
          </a:xfrm>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591312"/>
          </a:xfrm>
        </p:spPr>
        <p:txBody>
          <a:bodyPr/>
          <a:lstStyle/>
          <a:p>
            <a:r>
              <a:rPr lang="en-US" sz="2800" dirty="0" smtClean="0"/>
              <a:t>Data Dictionary :   </a:t>
            </a:r>
            <a:r>
              <a:rPr lang="en-US" sz="2400" dirty="0" smtClean="0"/>
              <a:t> Medicine Table :</a:t>
            </a:r>
            <a:endParaRPr lang="en-US" sz="2400" dirty="0"/>
          </a:p>
        </p:txBody>
      </p:sp>
      <p:graphicFrame>
        <p:nvGraphicFramePr>
          <p:cNvPr id="4" name="Content Placeholder 3"/>
          <p:cNvGraphicFramePr>
            <a:graphicFrameLocks noGrp="1"/>
          </p:cNvGraphicFramePr>
          <p:nvPr>
            <p:ph idx="1"/>
          </p:nvPr>
        </p:nvGraphicFramePr>
        <p:xfrm>
          <a:off x="457200" y="1676400"/>
          <a:ext cx="8229600" cy="4846320"/>
        </p:xfrm>
        <a:graphic>
          <a:graphicData uri="http://schemas.openxmlformats.org/drawingml/2006/table">
            <a:tbl>
              <a:tblPr firstRow="1" bandRow="1">
                <a:tableStyleId>{5C22544A-7EE6-4342-B048-85BDC9FD1C3A}</a:tableStyleId>
              </a:tblPr>
              <a:tblGrid>
                <a:gridCol w="1066800"/>
                <a:gridCol w="1447800"/>
                <a:gridCol w="1371600"/>
                <a:gridCol w="990600"/>
                <a:gridCol w="1371600"/>
                <a:gridCol w="1981200"/>
              </a:tblGrid>
              <a:tr h="339306">
                <a:tc>
                  <a:txBody>
                    <a:bodyPr/>
                    <a:lstStyle/>
                    <a:p>
                      <a:r>
                        <a:rPr lang="en-US" dirty="0" err="1" smtClean="0"/>
                        <a:t>Sr</a:t>
                      </a:r>
                      <a:r>
                        <a:rPr lang="en-US" dirty="0" smtClean="0"/>
                        <a:t> No.</a:t>
                      </a:r>
                      <a:endParaRPr lang="en-US" dirty="0"/>
                    </a:p>
                  </a:txBody>
                  <a:tcPr/>
                </a:tc>
                <a:tc>
                  <a:txBody>
                    <a:bodyPr/>
                    <a:lstStyle/>
                    <a:p>
                      <a:r>
                        <a:rPr lang="en-US" dirty="0" smtClean="0"/>
                        <a:t>Field Name</a:t>
                      </a:r>
                      <a:endParaRPr lang="en-US" dirty="0"/>
                    </a:p>
                  </a:txBody>
                  <a:tcPr/>
                </a:tc>
                <a:tc>
                  <a:txBody>
                    <a:bodyPr/>
                    <a:lstStyle/>
                    <a:p>
                      <a:r>
                        <a:rPr lang="en-US" dirty="0" smtClean="0"/>
                        <a:t>Data Type</a:t>
                      </a:r>
                      <a:endParaRPr lang="en-US" dirty="0"/>
                    </a:p>
                  </a:txBody>
                  <a:tcPr/>
                </a:tc>
                <a:tc>
                  <a:txBody>
                    <a:bodyPr/>
                    <a:lstStyle/>
                    <a:p>
                      <a:r>
                        <a:rPr lang="en-US" dirty="0" smtClean="0"/>
                        <a:t>Length</a:t>
                      </a:r>
                      <a:endParaRPr lang="en-US" dirty="0"/>
                    </a:p>
                  </a:txBody>
                  <a:tcPr/>
                </a:tc>
                <a:tc>
                  <a:txBody>
                    <a:bodyPr/>
                    <a:lstStyle/>
                    <a:p>
                      <a:r>
                        <a:rPr lang="en-US" dirty="0" smtClean="0"/>
                        <a:t>Constraint</a:t>
                      </a:r>
                      <a:endParaRPr lang="en-US" dirty="0"/>
                    </a:p>
                  </a:txBody>
                  <a:tcPr/>
                </a:tc>
                <a:tc>
                  <a:txBody>
                    <a:bodyPr/>
                    <a:lstStyle/>
                    <a:p>
                      <a:r>
                        <a:rPr lang="en-US" dirty="0" smtClean="0"/>
                        <a:t>Description</a:t>
                      </a:r>
                      <a:endParaRPr lang="en-US" dirty="0"/>
                    </a:p>
                  </a:txBody>
                  <a:tcPr/>
                </a:tc>
              </a:tr>
              <a:tr h="593785">
                <a:tc>
                  <a:txBody>
                    <a:bodyPr/>
                    <a:lstStyle/>
                    <a:p>
                      <a:r>
                        <a:rPr lang="en-US" dirty="0" smtClean="0"/>
                        <a:t>1</a:t>
                      </a:r>
                      <a:endParaRPr lang="en-US" dirty="0"/>
                    </a:p>
                  </a:txBody>
                  <a:tcPr/>
                </a:tc>
                <a:tc>
                  <a:txBody>
                    <a:bodyPr/>
                    <a:lstStyle/>
                    <a:p>
                      <a:r>
                        <a:rPr lang="en-US" dirty="0" smtClean="0"/>
                        <a:t>ID</a:t>
                      </a:r>
                      <a:endParaRPr lang="en-US" dirty="0"/>
                    </a:p>
                  </a:txBody>
                  <a:tcPr/>
                </a:tc>
                <a:tc>
                  <a:txBody>
                    <a:bodyPr/>
                    <a:lstStyle/>
                    <a:p>
                      <a:r>
                        <a:rPr lang="en-US" dirty="0" err="1" smtClean="0"/>
                        <a:t>Int</a:t>
                      </a:r>
                      <a:endParaRPr lang="en-US" dirty="0"/>
                    </a:p>
                  </a:txBody>
                  <a:tcPr/>
                </a:tc>
                <a:tc>
                  <a:txBody>
                    <a:bodyPr/>
                    <a:lstStyle/>
                    <a:p>
                      <a:r>
                        <a:rPr lang="en-US" dirty="0" smtClean="0"/>
                        <a:t>5</a:t>
                      </a:r>
                      <a:endParaRPr lang="en-US" dirty="0"/>
                    </a:p>
                  </a:txBody>
                  <a:tcPr/>
                </a:tc>
                <a:tc>
                  <a:txBody>
                    <a:bodyPr/>
                    <a:lstStyle/>
                    <a:p>
                      <a:r>
                        <a:rPr lang="en-US" dirty="0" smtClean="0"/>
                        <a:t>Primary Key</a:t>
                      </a:r>
                      <a:endParaRPr lang="en-US" dirty="0"/>
                    </a:p>
                  </a:txBody>
                  <a:tcPr/>
                </a:tc>
                <a:tc>
                  <a:txBody>
                    <a:bodyPr/>
                    <a:lstStyle/>
                    <a:p>
                      <a:r>
                        <a:rPr lang="en-US" dirty="0" smtClean="0"/>
                        <a:t>Stores unique id for user master</a:t>
                      </a:r>
                      <a:endParaRPr lang="en-US" dirty="0"/>
                    </a:p>
                  </a:txBody>
                  <a:tcPr/>
                </a:tc>
              </a:tr>
              <a:tr h="593785">
                <a:tc>
                  <a:txBody>
                    <a:bodyPr/>
                    <a:lstStyle/>
                    <a:p>
                      <a:r>
                        <a:rPr lang="en-US" dirty="0" smtClean="0"/>
                        <a:t>2</a:t>
                      </a:r>
                      <a:endParaRPr lang="en-US" dirty="0"/>
                    </a:p>
                  </a:txBody>
                  <a:tcPr/>
                </a:tc>
                <a:tc>
                  <a:txBody>
                    <a:bodyPr/>
                    <a:lstStyle/>
                    <a:p>
                      <a:r>
                        <a:rPr lang="en-US" dirty="0" smtClean="0"/>
                        <a:t>Name</a:t>
                      </a:r>
                      <a:endParaRPr lang="en-US" dirty="0"/>
                    </a:p>
                  </a:txBody>
                  <a:tcPr/>
                </a:tc>
                <a:tc>
                  <a:txBody>
                    <a:bodyPr/>
                    <a:lstStyle/>
                    <a:p>
                      <a:r>
                        <a:rPr lang="en-US" dirty="0" err="1" smtClean="0"/>
                        <a:t>Varchar</a:t>
                      </a:r>
                      <a:endParaRPr lang="en-US" dirty="0"/>
                    </a:p>
                  </a:txBody>
                  <a:tcPr/>
                </a:tc>
                <a:tc>
                  <a:txBody>
                    <a:bodyPr/>
                    <a:lstStyle/>
                    <a:p>
                      <a:r>
                        <a:rPr lang="en-US" dirty="0" smtClean="0"/>
                        <a:t>100</a:t>
                      </a:r>
                      <a:endParaRPr lang="en-US" dirty="0"/>
                    </a:p>
                  </a:txBody>
                  <a:tcPr/>
                </a:tc>
                <a:tc>
                  <a:txBody>
                    <a:bodyPr/>
                    <a:lstStyle/>
                    <a:p>
                      <a:r>
                        <a:rPr lang="en-US" dirty="0" smtClean="0"/>
                        <a:t>Not Null</a:t>
                      </a:r>
                      <a:endParaRPr lang="en-US" dirty="0"/>
                    </a:p>
                  </a:txBody>
                  <a:tcPr/>
                </a:tc>
                <a:tc>
                  <a:txBody>
                    <a:bodyPr/>
                    <a:lstStyle/>
                    <a:p>
                      <a:r>
                        <a:rPr lang="en-US" dirty="0" smtClean="0"/>
                        <a:t>Name of Medicine</a:t>
                      </a:r>
                      <a:endParaRPr lang="en-US" dirty="0"/>
                    </a:p>
                  </a:txBody>
                  <a:tcPr/>
                </a:tc>
              </a:tr>
              <a:tr h="593785">
                <a:tc>
                  <a:txBody>
                    <a:bodyPr/>
                    <a:lstStyle/>
                    <a:p>
                      <a:r>
                        <a:rPr lang="en-US" dirty="0" smtClean="0"/>
                        <a:t>3</a:t>
                      </a:r>
                      <a:endParaRPr lang="en-US" dirty="0"/>
                    </a:p>
                  </a:txBody>
                  <a:tcPr/>
                </a:tc>
                <a:tc>
                  <a:txBody>
                    <a:bodyPr/>
                    <a:lstStyle/>
                    <a:p>
                      <a:r>
                        <a:rPr lang="en-US" dirty="0" smtClean="0"/>
                        <a:t>Company</a:t>
                      </a:r>
                      <a:endParaRPr lang="en-US" dirty="0"/>
                    </a:p>
                  </a:txBody>
                  <a:tcPr/>
                </a:tc>
                <a:tc>
                  <a:txBody>
                    <a:bodyPr/>
                    <a:lstStyle/>
                    <a:p>
                      <a:r>
                        <a:rPr lang="en-US" dirty="0" err="1" smtClean="0"/>
                        <a:t>Varchar</a:t>
                      </a:r>
                      <a:endParaRPr lang="en-US" dirty="0"/>
                    </a:p>
                  </a:txBody>
                  <a:tcPr/>
                </a:tc>
                <a:tc>
                  <a:txBody>
                    <a:bodyPr/>
                    <a:lstStyle/>
                    <a:p>
                      <a:r>
                        <a:rPr lang="en-US" dirty="0" smtClean="0"/>
                        <a:t>100</a:t>
                      </a:r>
                      <a:endParaRPr lang="en-US" dirty="0"/>
                    </a:p>
                  </a:txBody>
                  <a:tcPr/>
                </a:tc>
                <a:tc>
                  <a:txBody>
                    <a:bodyPr/>
                    <a:lstStyle/>
                    <a:p>
                      <a:r>
                        <a:rPr lang="en-US" dirty="0" smtClean="0"/>
                        <a:t>Not</a:t>
                      </a:r>
                      <a:r>
                        <a:rPr lang="en-US" baseline="0" dirty="0" smtClean="0"/>
                        <a:t> Null</a:t>
                      </a:r>
                      <a:endParaRPr lang="en-US" dirty="0"/>
                    </a:p>
                  </a:txBody>
                  <a:tcPr/>
                </a:tc>
                <a:tc>
                  <a:txBody>
                    <a:bodyPr/>
                    <a:lstStyle/>
                    <a:p>
                      <a:r>
                        <a:rPr lang="en-US" dirty="0" smtClean="0"/>
                        <a:t>Name of Company</a:t>
                      </a:r>
                      <a:endParaRPr lang="en-US" dirty="0"/>
                    </a:p>
                  </a:txBody>
                  <a:tcPr/>
                </a:tc>
              </a:tr>
              <a:tr h="593785">
                <a:tc>
                  <a:txBody>
                    <a:bodyPr/>
                    <a:lstStyle/>
                    <a:p>
                      <a:r>
                        <a:rPr lang="en-US" dirty="0" smtClean="0"/>
                        <a:t>4</a:t>
                      </a:r>
                      <a:endParaRPr lang="en-US" dirty="0"/>
                    </a:p>
                  </a:txBody>
                  <a:tcPr/>
                </a:tc>
                <a:tc>
                  <a:txBody>
                    <a:bodyPr/>
                    <a:lstStyle/>
                    <a:p>
                      <a:r>
                        <a:rPr lang="en-US" dirty="0" smtClean="0"/>
                        <a:t>Selling</a:t>
                      </a:r>
                      <a:r>
                        <a:rPr lang="en-US" baseline="0" dirty="0" smtClean="0"/>
                        <a:t> Price</a:t>
                      </a:r>
                      <a:endParaRPr lang="en-US" dirty="0"/>
                    </a:p>
                  </a:txBody>
                  <a:tcPr/>
                </a:tc>
                <a:tc>
                  <a:txBody>
                    <a:bodyPr/>
                    <a:lstStyle/>
                    <a:p>
                      <a:r>
                        <a:rPr lang="en-US" dirty="0" smtClean="0"/>
                        <a:t>Float</a:t>
                      </a:r>
                      <a:endParaRPr lang="en-US" dirty="0"/>
                    </a:p>
                  </a:txBody>
                  <a:tcPr/>
                </a:tc>
                <a:tc>
                  <a:txBody>
                    <a:bodyPr/>
                    <a:lstStyle/>
                    <a:p>
                      <a:r>
                        <a:rPr lang="en-US" dirty="0" smtClean="0"/>
                        <a:t>5</a:t>
                      </a:r>
                      <a:endParaRPr lang="en-US" dirty="0"/>
                    </a:p>
                  </a:txBody>
                  <a:tcPr/>
                </a:tc>
                <a:tc>
                  <a:txBody>
                    <a:bodyPr/>
                    <a:lstStyle/>
                    <a:p>
                      <a:r>
                        <a:rPr lang="en-US" dirty="0" smtClean="0"/>
                        <a:t>Not</a:t>
                      </a:r>
                      <a:r>
                        <a:rPr lang="en-US" baseline="0" dirty="0" smtClean="0"/>
                        <a:t> Null </a:t>
                      </a:r>
                      <a:endParaRPr lang="en-US" dirty="0"/>
                    </a:p>
                  </a:txBody>
                  <a:tcPr/>
                </a:tc>
                <a:tc>
                  <a:txBody>
                    <a:bodyPr/>
                    <a:lstStyle/>
                    <a:p>
                      <a:r>
                        <a:rPr lang="en-US" dirty="0" smtClean="0"/>
                        <a:t>Selling</a:t>
                      </a:r>
                      <a:r>
                        <a:rPr lang="en-US" baseline="0" dirty="0" smtClean="0"/>
                        <a:t> price of Medicine</a:t>
                      </a:r>
                      <a:endParaRPr lang="en-US" dirty="0"/>
                    </a:p>
                  </a:txBody>
                  <a:tcPr/>
                </a:tc>
              </a:tr>
              <a:tr h="593785">
                <a:tc>
                  <a:txBody>
                    <a:bodyPr/>
                    <a:lstStyle/>
                    <a:p>
                      <a:r>
                        <a:rPr lang="en-US" dirty="0" smtClean="0"/>
                        <a:t>5</a:t>
                      </a:r>
                      <a:endParaRPr lang="en-US" dirty="0"/>
                    </a:p>
                  </a:txBody>
                  <a:tcPr/>
                </a:tc>
                <a:tc>
                  <a:txBody>
                    <a:bodyPr/>
                    <a:lstStyle/>
                    <a:p>
                      <a:r>
                        <a:rPr lang="en-US" dirty="0" smtClean="0"/>
                        <a:t>Buying</a:t>
                      </a:r>
                      <a:r>
                        <a:rPr lang="en-US" baseline="0" dirty="0" smtClean="0"/>
                        <a:t> Price</a:t>
                      </a:r>
                      <a:endParaRPr lang="en-US" dirty="0"/>
                    </a:p>
                  </a:txBody>
                  <a:tcPr/>
                </a:tc>
                <a:tc>
                  <a:txBody>
                    <a:bodyPr/>
                    <a:lstStyle/>
                    <a:p>
                      <a:r>
                        <a:rPr lang="en-US" dirty="0" smtClean="0"/>
                        <a:t>Float</a:t>
                      </a:r>
                      <a:endParaRPr lang="en-US" dirty="0"/>
                    </a:p>
                  </a:txBody>
                  <a:tcPr/>
                </a:tc>
                <a:tc>
                  <a:txBody>
                    <a:bodyPr/>
                    <a:lstStyle/>
                    <a:p>
                      <a:r>
                        <a:rPr lang="en-US" dirty="0" smtClean="0"/>
                        <a:t>5</a:t>
                      </a:r>
                      <a:endParaRPr lang="en-US" dirty="0"/>
                    </a:p>
                  </a:txBody>
                  <a:tcPr/>
                </a:tc>
                <a:tc>
                  <a:txBody>
                    <a:bodyPr/>
                    <a:lstStyle/>
                    <a:p>
                      <a:r>
                        <a:rPr lang="en-US" dirty="0" smtClean="0"/>
                        <a:t>Not Null </a:t>
                      </a:r>
                      <a:endParaRPr lang="en-US" dirty="0"/>
                    </a:p>
                  </a:txBody>
                  <a:tcPr/>
                </a:tc>
                <a:tc>
                  <a:txBody>
                    <a:bodyPr/>
                    <a:lstStyle/>
                    <a:p>
                      <a:r>
                        <a:rPr lang="en-US" dirty="0" smtClean="0"/>
                        <a:t>Buying Price of Medicine</a:t>
                      </a:r>
                      <a:endParaRPr lang="en-US" dirty="0"/>
                    </a:p>
                  </a:txBody>
                  <a:tcPr/>
                </a:tc>
              </a:tr>
              <a:tr h="593785">
                <a:tc>
                  <a:txBody>
                    <a:bodyPr/>
                    <a:lstStyle/>
                    <a:p>
                      <a:r>
                        <a:rPr lang="en-US" dirty="0" smtClean="0"/>
                        <a:t>6</a:t>
                      </a:r>
                      <a:endParaRPr lang="en-US" dirty="0"/>
                    </a:p>
                  </a:txBody>
                  <a:tcPr/>
                </a:tc>
                <a:tc>
                  <a:txBody>
                    <a:bodyPr/>
                    <a:lstStyle/>
                    <a:p>
                      <a:r>
                        <a:rPr lang="en-US" dirty="0" smtClean="0"/>
                        <a:t>Quantity</a:t>
                      </a:r>
                      <a:endParaRPr lang="en-US" dirty="0"/>
                    </a:p>
                  </a:txBody>
                  <a:tcPr/>
                </a:tc>
                <a:tc>
                  <a:txBody>
                    <a:bodyPr/>
                    <a:lstStyle/>
                    <a:p>
                      <a:r>
                        <a:rPr lang="en-US" dirty="0" err="1" smtClean="0"/>
                        <a:t>Int</a:t>
                      </a:r>
                      <a:r>
                        <a:rPr lang="en-US" dirty="0" smtClean="0"/>
                        <a:t> </a:t>
                      </a:r>
                      <a:endParaRPr lang="en-US" dirty="0"/>
                    </a:p>
                  </a:txBody>
                  <a:tcPr/>
                </a:tc>
                <a:tc>
                  <a:txBody>
                    <a:bodyPr/>
                    <a:lstStyle/>
                    <a:p>
                      <a:r>
                        <a:rPr lang="en-US" dirty="0" smtClean="0"/>
                        <a:t>5</a:t>
                      </a:r>
                      <a:endParaRPr lang="en-US" dirty="0"/>
                    </a:p>
                  </a:txBody>
                  <a:tcPr/>
                </a:tc>
                <a:tc>
                  <a:txBody>
                    <a:bodyPr/>
                    <a:lstStyle/>
                    <a:p>
                      <a:r>
                        <a:rPr lang="en-US" dirty="0" smtClean="0"/>
                        <a:t>Not Null</a:t>
                      </a:r>
                      <a:r>
                        <a:rPr lang="en-US" baseline="0" dirty="0" smtClean="0"/>
                        <a:t> </a:t>
                      </a:r>
                      <a:endParaRPr lang="en-US" dirty="0"/>
                    </a:p>
                  </a:txBody>
                  <a:tcPr/>
                </a:tc>
                <a:tc>
                  <a:txBody>
                    <a:bodyPr/>
                    <a:lstStyle/>
                    <a:p>
                      <a:r>
                        <a:rPr lang="en-US" dirty="0" smtClean="0"/>
                        <a:t>Quantity of Medicine</a:t>
                      </a:r>
                      <a:endParaRPr lang="en-US" dirty="0"/>
                    </a:p>
                  </a:txBody>
                  <a:tcPr/>
                </a:tc>
              </a:tr>
              <a:tr h="593785">
                <a:tc>
                  <a:txBody>
                    <a:bodyPr/>
                    <a:lstStyle/>
                    <a:p>
                      <a:r>
                        <a:rPr lang="en-US" dirty="0" smtClean="0"/>
                        <a:t>7</a:t>
                      </a:r>
                      <a:endParaRPr lang="en-US" dirty="0"/>
                    </a:p>
                  </a:txBody>
                  <a:tcPr/>
                </a:tc>
                <a:tc>
                  <a:txBody>
                    <a:bodyPr/>
                    <a:lstStyle/>
                    <a:p>
                      <a:r>
                        <a:rPr lang="en-US" dirty="0" smtClean="0"/>
                        <a:t>Date</a:t>
                      </a:r>
                      <a:endParaRPr lang="en-US" dirty="0"/>
                    </a:p>
                  </a:txBody>
                  <a:tcPr/>
                </a:tc>
                <a:tc>
                  <a:txBody>
                    <a:bodyPr/>
                    <a:lstStyle/>
                    <a:p>
                      <a:r>
                        <a:rPr lang="en-US" dirty="0" smtClean="0"/>
                        <a:t>Date</a:t>
                      </a:r>
                    </a:p>
                    <a:p>
                      <a:r>
                        <a:rPr lang="en-US" dirty="0" smtClean="0"/>
                        <a:t> </a:t>
                      </a:r>
                      <a:endParaRPr lang="en-US" dirty="0"/>
                    </a:p>
                  </a:txBody>
                  <a:tcPr/>
                </a:tc>
                <a:tc>
                  <a:txBody>
                    <a:bodyPr/>
                    <a:lstStyle/>
                    <a:p>
                      <a:r>
                        <a:rPr lang="en-US" dirty="0" smtClean="0"/>
                        <a:t>50</a:t>
                      </a:r>
                      <a:endParaRPr lang="en-US" dirty="0"/>
                    </a:p>
                  </a:txBody>
                  <a:tcPr/>
                </a:tc>
                <a:tc>
                  <a:txBody>
                    <a:bodyPr/>
                    <a:lstStyle/>
                    <a:p>
                      <a:r>
                        <a:rPr lang="en-US" dirty="0" smtClean="0"/>
                        <a:t>Not Null</a:t>
                      </a:r>
                      <a:endParaRPr lang="en-US" dirty="0"/>
                    </a:p>
                  </a:txBody>
                  <a:tcPr/>
                </a:tc>
                <a:tc>
                  <a:txBody>
                    <a:bodyPr/>
                    <a:lstStyle/>
                    <a:p>
                      <a:r>
                        <a:rPr lang="en-US" dirty="0" smtClean="0"/>
                        <a:t>Date of Buying Medicine</a:t>
                      </a:r>
                      <a:endParaRPr lang="en-US" dirty="0"/>
                    </a:p>
                  </a:txBody>
                  <a:tcPr/>
                </a:tc>
              </a:tr>
            </a:tbl>
          </a:graphicData>
        </a:graphic>
      </p:graphicFrame>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sz="2800" dirty="0" smtClean="0"/>
              <a:t>Company Table :</a:t>
            </a:r>
            <a:endParaRPr lang="en-US" sz="2800" dirty="0"/>
          </a:p>
        </p:txBody>
      </p:sp>
      <p:graphicFrame>
        <p:nvGraphicFramePr>
          <p:cNvPr id="4" name="Content Placeholder 3"/>
          <p:cNvGraphicFramePr>
            <a:graphicFrameLocks noGrp="1"/>
          </p:cNvGraphicFramePr>
          <p:nvPr>
            <p:ph idx="1"/>
          </p:nvPr>
        </p:nvGraphicFramePr>
        <p:xfrm>
          <a:off x="457200" y="1935163"/>
          <a:ext cx="8229600" cy="3011487"/>
        </p:xfrm>
        <a:graphic>
          <a:graphicData uri="http://schemas.openxmlformats.org/drawingml/2006/table">
            <a:tbl>
              <a:tblPr firstRow="1" bandRow="1">
                <a:tableStyleId>{5C22544A-7EE6-4342-B048-85BDC9FD1C3A}</a:tableStyleId>
              </a:tblPr>
              <a:tblGrid>
                <a:gridCol w="914400"/>
                <a:gridCol w="1600200"/>
                <a:gridCol w="1295400"/>
                <a:gridCol w="1066800"/>
                <a:gridCol w="1371600"/>
                <a:gridCol w="1981200"/>
              </a:tblGrid>
              <a:tr h="451167">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err="1" smtClean="0"/>
                        <a:t>Sr</a:t>
                      </a:r>
                      <a:r>
                        <a:rPr lang="en-US" dirty="0" smtClean="0"/>
                        <a:t> No.</a:t>
                      </a:r>
                    </a:p>
                  </a:txBody>
                  <a:tcPr/>
                </a:tc>
                <a:tc>
                  <a:txBody>
                    <a:bodyPr/>
                    <a:lstStyle/>
                    <a:p>
                      <a:r>
                        <a:rPr lang="en-US" dirty="0" smtClean="0"/>
                        <a:t>Field Name </a:t>
                      </a:r>
                      <a:endParaRPr lang="en-US" dirty="0"/>
                    </a:p>
                  </a:txBody>
                  <a:tcPr/>
                </a:tc>
                <a:tc>
                  <a:txBody>
                    <a:bodyPr/>
                    <a:lstStyle/>
                    <a:p>
                      <a:r>
                        <a:rPr lang="en-US" dirty="0" smtClean="0"/>
                        <a:t>Data</a:t>
                      </a:r>
                      <a:r>
                        <a:rPr lang="en-US" baseline="0" dirty="0" smtClean="0"/>
                        <a:t> Type</a:t>
                      </a:r>
                      <a:endParaRPr lang="en-US" dirty="0"/>
                    </a:p>
                  </a:txBody>
                  <a:tcPr/>
                </a:tc>
                <a:tc>
                  <a:txBody>
                    <a:bodyPr/>
                    <a:lstStyle/>
                    <a:p>
                      <a:r>
                        <a:rPr lang="en-US" dirty="0" smtClean="0"/>
                        <a:t>Length</a:t>
                      </a:r>
                      <a:endParaRPr lang="en-US" dirty="0"/>
                    </a:p>
                  </a:txBody>
                  <a:tcPr/>
                </a:tc>
                <a:tc>
                  <a:txBody>
                    <a:bodyPr/>
                    <a:lstStyle/>
                    <a:p>
                      <a:r>
                        <a:rPr lang="en-US" dirty="0" smtClean="0"/>
                        <a:t>Constraint</a:t>
                      </a:r>
                      <a:endParaRPr lang="en-US" dirty="0"/>
                    </a:p>
                  </a:txBody>
                  <a:tcPr/>
                </a:tc>
                <a:tc>
                  <a:txBody>
                    <a:bodyPr/>
                    <a:lstStyle/>
                    <a:p>
                      <a:r>
                        <a:rPr lang="en-US" dirty="0" smtClean="0"/>
                        <a:t>Description</a:t>
                      </a:r>
                      <a:endParaRPr lang="en-US" dirty="0"/>
                    </a:p>
                  </a:txBody>
                  <a:tcPr/>
                </a:tc>
              </a:tr>
              <a:tr h="451167">
                <a:tc>
                  <a:txBody>
                    <a:bodyPr/>
                    <a:lstStyle/>
                    <a:p>
                      <a:r>
                        <a:rPr lang="en-US" dirty="0" smtClean="0"/>
                        <a:t>1 </a:t>
                      </a:r>
                      <a:endParaRPr lang="en-US" dirty="0"/>
                    </a:p>
                  </a:txBody>
                  <a:tcPr/>
                </a:tc>
                <a:tc>
                  <a:txBody>
                    <a:bodyPr/>
                    <a:lstStyle/>
                    <a:p>
                      <a:r>
                        <a:rPr lang="en-US" dirty="0" smtClean="0"/>
                        <a:t>ID</a:t>
                      </a:r>
                      <a:endParaRPr lang="en-US" dirty="0"/>
                    </a:p>
                  </a:txBody>
                  <a:tcPr/>
                </a:tc>
                <a:tc>
                  <a:txBody>
                    <a:bodyPr/>
                    <a:lstStyle/>
                    <a:p>
                      <a:r>
                        <a:rPr lang="en-US" dirty="0" err="1" smtClean="0"/>
                        <a:t>Int</a:t>
                      </a:r>
                      <a:endParaRPr lang="en-US" dirty="0"/>
                    </a:p>
                  </a:txBody>
                  <a:tcPr/>
                </a:tc>
                <a:tc>
                  <a:txBody>
                    <a:bodyPr/>
                    <a:lstStyle/>
                    <a:p>
                      <a:r>
                        <a:rPr lang="en-US" dirty="0" smtClean="0"/>
                        <a:t>5</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Primary Key</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Stores unique id for user master</a:t>
                      </a:r>
                    </a:p>
                  </a:txBody>
                  <a:tcPr/>
                </a:tc>
              </a:tr>
              <a:tr h="451167">
                <a:tc>
                  <a:txBody>
                    <a:bodyPr/>
                    <a:lstStyle/>
                    <a:p>
                      <a:r>
                        <a:rPr lang="en-US" dirty="0" smtClean="0"/>
                        <a:t>2</a:t>
                      </a:r>
                      <a:endParaRPr lang="en-US" dirty="0"/>
                    </a:p>
                  </a:txBody>
                  <a:tcPr/>
                </a:tc>
                <a:tc>
                  <a:txBody>
                    <a:bodyPr/>
                    <a:lstStyle/>
                    <a:p>
                      <a:r>
                        <a:rPr lang="en-US" dirty="0" smtClean="0"/>
                        <a:t>Name</a:t>
                      </a:r>
                      <a:endParaRPr lang="en-US" dirty="0"/>
                    </a:p>
                  </a:txBody>
                  <a:tcPr/>
                </a:tc>
                <a:tc>
                  <a:txBody>
                    <a:bodyPr/>
                    <a:lstStyle/>
                    <a:p>
                      <a:r>
                        <a:rPr lang="en-US" dirty="0" err="1" smtClean="0"/>
                        <a:t>Varchar</a:t>
                      </a:r>
                      <a:endParaRPr lang="en-US" dirty="0"/>
                    </a:p>
                  </a:txBody>
                  <a:tcPr/>
                </a:tc>
                <a:tc>
                  <a:txBody>
                    <a:bodyPr/>
                    <a:lstStyle/>
                    <a:p>
                      <a:r>
                        <a:rPr lang="en-US" dirty="0" smtClean="0"/>
                        <a:t>100</a:t>
                      </a:r>
                      <a:endParaRPr lang="en-US" dirty="0"/>
                    </a:p>
                  </a:txBody>
                  <a:tcPr/>
                </a:tc>
                <a:tc>
                  <a:txBody>
                    <a:bodyPr/>
                    <a:lstStyle/>
                    <a:p>
                      <a:r>
                        <a:rPr lang="en-US" dirty="0" smtClean="0"/>
                        <a:t>Not Null</a:t>
                      </a:r>
                      <a:endParaRPr lang="en-US" dirty="0"/>
                    </a:p>
                  </a:txBody>
                  <a:tcPr/>
                </a:tc>
                <a:tc>
                  <a:txBody>
                    <a:bodyPr/>
                    <a:lstStyle/>
                    <a:p>
                      <a:r>
                        <a:rPr lang="en-US" dirty="0" smtClean="0"/>
                        <a:t>Name of Company</a:t>
                      </a:r>
                      <a:endParaRPr lang="en-US" dirty="0"/>
                    </a:p>
                  </a:txBody>
                  <a:tcPr/>
                </a:tc>
              </a:tr>
              <a:tr h="451167">
                <a:tc>
                  <a:txBody>
                    <a:bodyPr/>
                    <a:lstStyle/>
                    <a:p>
                      <a:r>
                        <a:rPr lang="en-US" dirty="0" smtClean="0"/>
                        <a:t>3</a:t>
                      </a:r>
                      <a:endParaRPr lang="en-US" dirty="0"/>
                    </a:p>
                  </a:txBody>
                  <a:tcPr/>
                </a:tc>
                <a:tc>
                  <a:txBody>
                    <a:bodyPr/>
                    <a:lstStyle/>
                    <a:p>
                      <a:r>
                        <a:rPr lang="en-US" baseline="0" dirty="0" smtClean="0"/>
                        <a:t>Phone Number</a:t>
                      </a:r>
                      <a:endParaRPr lang="en-US" dirty="0"/>
                    </a:p>
                  </a:txBody>
                  <a:tcPr/>
                </a:tc>
                <a:tc>
                  <a:txBody>
                    <a:bodyPr/>
                    <a:lstStyle/>
                    <a:p>
                      <a:r>
                        <a:rPr lang="en-US" dirty="0" smtClean="0"/>
                        <a:t>String</a:t>
                      </a:r>
                      <a:endParaRPr lang="en-US" dirty="0"/>
                    </a:p>
                  </a:txBody>
                  <a:tcPr/>
                </a:tc>
                <a:tc>
                  <a:txBody>
                    <a:bodyPr/>
                    <a:lstStyle/>
                    <a:p>
                      <a:r>
                        <a:rPr lang="en-US" dirty="0" smtClean="0"/>
                        <a:t>10</a:t>
                      </a:r>
                      <a:endParaRPr lang="en-US" dirty="0"/>
                    </a:p>
                  </a:txBody>
                  <a:tcPr/>
                </a:tc>
                <a:tc>
                  <a:txBody>
                    <a:bodyPr/>
                    <a:lstStyle/>
                    <a:p>
                      <a:r>
                        <a:rPr lang="en-US" dirty="0" smtClean="0"/>
                        <a:t>Not Null</a:t>
                      </a:r>
                      <a:endParaRPr lang="en-US" dirty="0"/>
                    </a:p>
                  </a:txBody>
                  <a:tcPr/>
                </a:tc>
                <a:tc>
                  <a:txBody>
                    <a:bodyPr/>
                    <a:lstStyle/>
                    <a:p>
                      <a:r>
                        <a:rPr lang="en-US" dirty="0" smtClean="0"/>
                        <a:t>Phone</a:t>
                      </a:r>
                      <a:r>
                        <a:rPr lang="en-US" baseline="0" dirty="0" smtClean="0"/>
                        <a:t> Number of Company</a:t>
                      </a:r>
                      <a:endParaRPr lang="en-US" dirty="0"/>
                    </a:p>
                  </a:txBody>
                  <a:tcPr/>
                </a:tc>
              </a:tr>
              <a:tr h="451167">
                <a:tc>
                  <a:txBody>
                    <a:bodyPr/>
                    <a:lstStyle/>
                    <a:p>
                      <a:r>
                        <a:rPr lang="en-US" dirty="0" smtClean="0"/>
                        <a:t>4</a:t>
                      </a:r>
                      <a:endParaRPr lang="en-US" dirty="0"/>
                    </a:p>
                  </a:txBody>
                  <a:tcPr/>
                </a:tc>
                <a:tc>
                  <a:txBody>
                    <a:bodyPr/>
                    <a:lstStyle/>
                    <a:p>
                      <a:r>
                        <a:rPr lang="en-US" dirty="0" smtClean="0"/>
                        <a:t>Address</a:t>
                      </a:r>
                      <a:endParaRPr lang="en-US" dirty="0"/>
                    </a:p>
                  </a:txBody>
                  <a:tcPr/>
                </a:tc>
                <a:tc>
                  <a:txBody>
                    <a:bodyPr/>
                    <a:lstStyle/>
                    <a:p>
                      <a:r>
                        <a:rPr lang="en-US" dirty="0" err="1" smtClean="0"/>
                        <a:t>Varchar</a:t>
                      </a:r>
                      <a:endParaRPr lang="en-US" dirty="0"/>
                    </a:p>
                  </a:txBody>
                  <a:tcPr/>
                </a:tc>
                <a:tc>
                  <a:txBody>
                    <a:bodyPr/>
                    <a:lstStyle/>
                    <a:p>
                      <a:r>
                        <a:rPr lang="en-US" dirty="0" smtClean="0"/>
                        <a:t>100</a:t>
                      </a:r>
                      <a:endParaRPr lang="en-US" dirty="0"/>
                    </a:p>
                  </a:txBody>
                  <a:tcPr/>
                </a:tc>
                <a:tc>
                  <a:txBody>
                    <a:bodyPr/>
                    <a:lstStyle/>
                    <a:p>
                      <a:r>
                        <a:rPr lang="en-US" dirty="0" smtClean="0"/>
                        <a:t>Not Null </a:t>
                      </a:r>
                      <a:endParaRPr lang="en-US" dirty="0"/>
                    </a:p>
                  </a:txBody>
                  <a:tcPr/>
                </a:tc>
                <a:tc>
                  <a:txBody>
                    <a:bodyPr/>
                    <a:lstStyle/>
                    <a:p>
                      <a:r>
                        <a:rPr lang="en-US" dirty="0" smtClean="0"/>
                        <a:t>Address of Company</a:t>
                      </a:r>
                      <a:endParaRPr lang="en-US" dirty="0"/>
                    </a:p>
                  </a:txBody>
                  <a:tcPr/>
                </a:tc>
              </a:tr>
            </a:tbl>
          </a:graphicData>
        </a:graphic>
      </p:graphicFrame>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438912"/>
          </a:xfrm>
        </p:spPr>
        <p:txBody>
          <a:bodyPr>
            <a:normAutofit fontScale="90000"/>
          </a:bodyPr>
          <a:lstStyle/>
          <a:p>
            <a:r>
              <a:rPr lang="en-US" sz="2800" dirty="0" smtClean="0"/>
              <a:t>Customer Table :</a:t>
            </a:r>
            <a:endParaRPr lang="en-US" sz="2800" dirty="0"/>
          </a:p>
        </p:txBody>
      </p:sp>
      <p:graphicFrame>
        <p:nvGraphicFramePr>
          <p:cNvPr id="6" name="Content Placeholder 5"/>
          <p:cNvGraphicFramePr>
            <a:graphicFrameLocks noGrp="1"/>
          </p:cNvGraphicFramePr>
          <p:nvPr>
            <p:ph idx="1"/>
          </p:nvPr>
        </p:nvGraphicFramePr>
        <p:xfrm>
          <a:off x="457200" y="1219203"/>
          <a:ext cx="8229600" cy="5918197"/>
        </p:xfrm>
        <a:graphic>
          <a:graphicData uri="http://schemas.openxmlformats.org/drawingml/2006/table">
            <a:tbl>
              <a:tblPr firstRow="1" bandRow="1">
                <a:tableStyleId>{5C22544A-7EE6-4342-B048-85BDC9FD1C3A}</a:tableStyleId>
              </a:tblPr>
              <a:tblGrid>
                <a:gridCol w="914400"/>
                <a:gridCol w="1828800"/>
                <a:gridCol w="1371600"/>
                <a:gridCol w="990600"/>
                <a:gridCol w="1371600"/>
                <a:gridCol w="1752600"/>
              </a:tblGrid>
              <a:tr h="656998">
                <a:tc>
                  <a:txBody>
                    <a:bodyPr/>
                    <a:lstStyle/>
                    <a:p>
                      <a:r>
                        <a:rPr lang="en-US" dirty="0" err="1" smtClean="0"/>
                        <a:t>Sr</a:t>
                      </a:r>
                      <a:r>
                        <a:rPr lang="en-US" dirty="0" smtClean="0"/>
                        <a:t> No.</a:t>
                      </a:r>
                      <a:endParaRPr lang="en-US" dirty="0"/>
                    </a:p>
                  </a:txBody>
                  <a:tcPr/>
                </a:tc>
                <a:tc>
                  <a:txBody>
                    <a:bodyPr/>
                    <a:lstStyle/>
                    <a:p>
                      <a:r>
                        <a:rPr lang="en-US" dirty="0" smtClean="0"/>
                        <a:t>Field Name</a:t>
                      </a:r>
                      <a:endParaRPr lang="en-US" dirty="0"/>
                    </a:p>
                  </a:txBody>
                  <a:tcPr/>
                </a:tc>
                <a:tc>
                  <a:txBody>
                    <a:bodyPr/>
                    <a:lstStyle/>
                    <a:p>
                      <a:r>
                        <a:rPr lang="en-US" dirty="0" smtClean="0"/>
                        <a:t>Data Type</a:t>
                      </a:r>
                      <a:endParaRPr lang="en-US" dirty="0"/>
                    </a:p>
                  </a:txBody>
                  <a:tcPr/>
                </a:tc>
                <a:tc>
                  <a:txBody>
                    <a:bodyPr/>
                    <a:lstStyle/>
                    <a:p>
                      <a:r>
                        <a:rPr lang="en-US" dirty="0" smtClean="0"/>
                        <a:t>Length</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Constraint</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Description</a:t>
                      </a:r>
                    </a:p>
                    <a:p>
                      <a:endParaRPr lang="en-US" dirty="0"/>
                    </a:p>
                  </a:txBody>
                  <a:tcPr/>
                </a:tc>
              </a:tr>
              <a:tr h="938569">
                <a:tc>
                  <a:txBody>
                    <a:bodyPr/>
                    <a:lstStyle/>
                    <a:p>
                      <a:r>
                        <a:rPr lang="en-US" dirty="0" smtClean="0"/>
                        <a:t>1</a:t>
                      </a:r>
                      <a:endParaRPr lang="en-US" dirty="0"/>
                    </a:p>
                  </a:txBody>
                  <a:tcPr/>
                </a:tc>
                <a:tc>
                  <a:txBody>
                    <a:bodyPr/>
                    <a:lstStyle/>
                    <a:p>
                      <a:r>
                        <a:rPr lang="en-US" dirty="0" smtClean="0"/>
                        <a:t>ID</a:t>
                      </a:r>
                      <a:endParaRPr lang="en-US" dirty="0"/>
                    </a:p>
                  </a:txBody>
                  <a:tcPr/>
                </a:tc>
                <a:tc>
                  <a:txBody>
                    <a:bodyPr/>
                    <a:lstStyle/>
                    <a:p>
                      <a:r>
                        <a:rPr lang="en-US" dirty="0" err="1" smtClean="0"/>
                        <a:t>Int</a:t>
                      </a:r>
                      <a:endParaRPr lang="en-US" dirty="0"/>
                    </a:p>
                  </a:txBody>
                  <a:tcPr/>
                </a:tc>
                <a:tc>
                  <a:txBody>
                    <a:bodyPr/>
                    <a:lstStyle/>
                    <a:p>
                      <a:r>
                        <a:rPr lang="en-US" dirty="0" smtClean="0"/>
                        <a:t>5</a:t>
                      </a:r>
                      <a:endParaRPr lang="en-US" dirty="0"/>
                    </a:p>
                  </a:txBody>
                  <a:tcPr/>
                </a:tc>
                <a:tc>
                  <a:txBody>
                    <a:bodyPr/>
                    <a:lstStyle/>
                    <a:p>
                      <a:r>
                        <a:rPr lang="en-US" dirty="0" smtClean="0"/>
                        <a:t>Primary</a:t>
                      </a:r>
                      <a:r>
                        <a:rPr lang="en-US" baseline="0" dirty="0" smtClean="0"/>
                        <a:t> Key</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Stores unique id  for user master</a:t>
                      </a:r>
                    </a:p>
                  </a:txBody>
                  <a:tcPr/>
                </a:tc>
              </a:tr>
              <a:tr h="656998">
                <a:tc>
                  <a:txBody>
                    <a:bodyPr/>
                    <a:lstStyle/>
                    <a:p>
                      <a:r>
                        <a:rPr lang="en-US" dirty="0" smtClean="0"/>
                        <a:t>2</a:t>
                      </a:r>
                      <a:endParaRPr lang="en-US" dirty="0"/>
                    </a:p>
                  </a:txBody>
                  <a:tcPr/>
                </a:tc>
                <a:tc>
                  <a:txBody>
                    <a:bodyPr/>
                    <a:lstStyle/>
                    <a:p>
                      <a:r>
                        <a:rPr lang="en-US" dirty="0" smtClean="0"/>
                        <a:t>Name</a:t>
                      </a:r>
                      <a:endParaRPr lang="en-US" dirty="0"/>
                    </a:p>
                  </a:txBody>
                  <a:tcPr/>
                </a:tc>
                <a:tc>
                  <a:txBody>
                    <a:bodyPr/>
                    <a:lstStyle/>
                    <a:p>
                      <a:r>
                        <a:rPr lang="en-US" dirty="0" err="1" smtClean="0"/>
                        <a:t>Varchar</a:t>
                      </a:r>
                      <a:endParaRPr lang="en-US" dirty="0"/>
                    </a:p>
                  </a:txBody>
                  <a:tcPr/>
                </a:tc>
                <a:tc>
                  <a:txBody>
                    <a:bodyPr/>
                    <a:lstStyle/>
                    <a:p>
                      <a:r>
                        <a:rPr lang="en-US" dirty="0" smtClean="0"/>
                        <a:t>100</a:t>
                      </a:r>
                      <a:endParaRPr lang="en-US" dirty="0"/>
                    </a:p>
                  </a:txBody>
                  <a:tcPr/>
                </a:tc>
                <a:tc>
                  <a:txBody>
                    <a:bodyPr/>
                    <a:lstStyle/>
                    <a:p>
                      <a:r>
                        <a:rPr lang="en-US" dirty="0" smtClean="0"/>
                        <a:t>Not Null</a:t>
                      </a:r>
                      <a:endParaRPr lang="en-US" dirty="0"/>
                    </a:p>
                  </a:txBody>
                  <a:tcPr/>
                </a:tc>
                <a:tc>
                  <a:txBody>
                    <a:bodyPr/>
                    <a:lstStyle/>
                    <a:p>
                      <a:r>
                        <a:rPr lang="en-US" dirty="0" smtClean="0"/>
                        <a:t>Name</a:t>
                      </a:r>
                      <a:r>
                        <a:rPr lang="en-US" baseline="0" dirty="0" smtClean="0"/>
                        <a:t> Of Customer</a:t>
                      </a:r>
                      <a:endParaRPr lang="en-US" dirty="0"/>
                    </a:p>
                  </a:txBody>
                  <a:tcPr/>
                </a:tc>
              </a:tr>
              <a:tr h="656998">
                <a:tc>
                  <a:txBody>
                    <a:bodyPr/>
                    <a:lstStyle/>
                    <a:p>
                      <a:r>
                        <a:rPr lang="en-US" dirty="0" smtClean="0"/>
                        <a:t>3</a:t>
                      </a:r>
                      <a:endParaRPr lang="en-US" dirty="0"/>
                    </a:p>
                  </a:txBody>
                  <a:tcPr/>
                </a:tc>
                <a:tc>
                  <a:txBody>
                    <a:bodyPr/>
                    <a:lstStyle/>
                    <a:p>
                      <a:r>
                        <a:rPr lang="en-US" dirty="0" smtClean="0"/>
                        <a:t>Age</a:t>
                      </a:r>
                      <a:endParaRPr lang="en-US" dirty="0"/>
                    </a:p>
                  </a:txBody>
                  <a:tcPr/>
                </a:tc>
                <a:tc>
                  <a:txBody>
                    <a:bodyPr/>
                    <a:lstStyle/>
                    <a:p>
                      <a:r>
                        <a:rPr lang="en-US" dirty="0" err="1" smtClean="0"/>
                        <a:t>Int</a:t>
                      </a:r>
                      <a:endParaRPr lang="en-US" dirty="0"/>
                    </a:p>
                  </a:txBody>
                  <a:tcPr/>
                </a:tc>
                <a:tc>
                  <a:txBody>
                    <a:bodyPr/>
                    <a:lstStyle/>
                    <a:p>
                      <a:r>
                        <a:rPr lang="en-US" dirty="0" smtClean="0"/>
                        <a:t>3</a:t>
                      </a:r>
                      <a:endParaRPr lang="en-US" dirty="0"/>
                    </a:p>
                  </a:txBody>
                  <a:tcPr/>
                </a:tc>
                <a:tc>
                  <a:txBody>
                    <a:bodyPr/>
                    <a:lstStyle/>
                    <a:p>
                      <a:r>
                        <a:rPr lang="en-US" dirty="0" smtClean="0"/>
                        <a:t>Not</a:t>
                      </a:r>
                      <a:r>
                        <a:rPr lang="en-US" baseline="0" dirty="0" smtClean="0"/>
                        <a:t> Null</a:t>
                      </a:r>
                      <a:endParaRPr lang="en-US" dirty="0"/>
                    </a:p>
                  </a:txBody>
                  <a:tcPr/>
                </a:tc>
                <a:tc>
                  <a:txBody>
                    <a:bodyPr/>
                    <a:lstStyle/>
                    <a:p>
                      <a:r>
                        <a:rPr lang="en-US" dirty="0" smtClean="0"/>
                        <a:t>Age of Customer</a:t>
                      </a:r>
                      <a:endParaRPr lang="en-US" dirty="0"/>
                    </a:p>
                  </a:txBody>
                  <a:tcPr/>
                </a:tc>
              </a:tr>
              <a:tr h="656998">
                <a:tc>
                  <a:txBody>
                    <a:bodyPr/>
                    <a:lstStyle/>
                    <a:p>
                      <a:r>
                        <a:rPr lang="en-US" dirty="0" smtClean="0"/>
                        <a:t>4</a:t>
                      </a:r>
                      <a:endParaRPr lang="en-US" dirty="0"/>
                    </a:p>
                  </a:txBody>
                  <a:tcPr/>
                </a:tc>
                <a:tc>
                  <a:txBody>
                    <a:bodyPr/>
                    <a:lstStyle/>
                    <a:p>
                      <a:r>
                        <a:rPr lang="en-US" dirty="0" smtClean="0"/>
                        <a:t>Gender</a:t>
                      </a:r>
                      <a:endParaRPr lang="en-US" dirty="0"/>
                    </a:p>
                  </a:txBody>
                  <a:tcPr/>
                </a:tc>
                <a:tc>
                  <a:txBody>
                    <a:bodyPr/>
                    <a:lstStyle/>
                    <a:p>
                      <a:r>
                        <a:rPr lang="en-US" dirty="0" err="1" smtClean="0"/>
                        <a:t>Varchar</a:t>
                      </a:r>
                      <a:endParaRPr lang="en-US" dirty="0"/>
                    </a:p>
                  </a:txBody>
                  <a:tcPr/>
                </a:tc>
                <a:tc>
                  <a:txBody>
                    <a:bodyPr/>
                    <a:lstStyle/>
                    <a:p>
                      <a:r>
                        <a:rPr lang="en-US" dirty="0" smtClean="0"/>
                        <a:t>10</a:t>
                      </a:r>
                      <a:endParaRPr lang="en-US" dirty="0"/>
                    </a:p>
                  </a:txBody>
                  <a:tcPr/>
                </a:tc>
                <a:tc>
                  <a:txBody>
                    <a:bodyPr/>
                    <a:lstStyle/>
                    <a:p>
                      <a:r>
                        <a:rPr lang="en-US" dirty="0" smtClean="0"/>
                        <a:t>Not null </a:t>
                      </a:r>
                      <a:endParaRPr lang="en-US" dirty="0"/>
                    </a:p>
                  </a:txBody>
                  <a:tcPr/>
                </a:tc>
                <a:tc>
                  <a:txBody>
                    <a:bodyPr/>
                    <a:lstStyle/>
                    <a:p>
                      <a:r>
                        <a:rPr lang="en-US" dirty="0" smtClean="0"/>
                        <a:t>Gender Of Customer</a:t>
                      </a:r>
                      <a:endParaRPr lang="en-US" dirty="0"/>
                    </a:p>
                  </a:txBody>
                  <a:tcPr/>
                </a:tc>
              </a:tr>
              <a:tr h="656998">
                <a:tc>
                  <a:txBody>
                    <a:bodyPr/>
                    <a:lstStyle/>
                    <a:p>
                      <a:r>
                        <a:rPr lang="en-US" dirty="0" smtClean="0"/>
                        <a:t>5</a:t>
                      </a:r>
                      <a:endParaRPr lang="en-US" dirty="0"/>
                    </a:p>
                  </a:txBody>
                  <a:tcPr/>
                </a:tc>
                <a:tc>
                  <a:txBody>
                    <a:bodyPr/>
                    <a:lstStyle/>
                    <a:p>
                      <a:r>
                        <a:rPr lang="en-US" dirty="0" err="1" smtClean="0"/>
                        <a:t>Amont</a:t>
                      </a:r>
                      <a:endParaRPr lang="en-US" dirty="0"/>
                    </a:p>
                  </a:txBody>
                  <a:tcPr/>
                </a:tc>
                <a:tc>
                  <a:txBody>
                    <a:bodyPr/>
                    <a:lstStyle/>
                    <a:p>
                      <a:r>
                        <a:rPr lang="en-US" dirty="0" smtClean="0"/>
                        <a:t>Double</a:t>
                      </a:r>
                    </a:p>
                    <a:p>
                      <a:endParaRPr lang="en-US" dirty="0"/>
                    </a:p>
                  </a:txBody>
                  <a:tcPr/>
                </a:tc>
                <a:tc>
                  <a:txBody>
                    <a:bodyPr/>
                    <a:lstStyle/>
                    <a:p>
                      <a:r>
                        <a:rPr lang="en-US" dirty="0" smtClean="0"/>
                        <a:t>5</a:t>
                      </a:r>
                      <a:endParaRPr lang="en-US" dirty="0"/>
                    </a:p>
                  </a:txBody>
                  <a:tcPr/>
                </a:tc>
                <a:tc>
                  <a:txBody>
                    <a:bodyPr/>
                    <a:lstStyle/>
                    <a:p>
                      <a:r>
                        <a:rPr lang="en-US" dirty="0" smtClean="0"/>
                        <a:t>Not Null </a:t>
                      </a:r>
                      <a:endParaRPr lang="en-US" dirty="0"/>
                    </a:p>
                  </a:txBody>
                  <a:tcPr/>
                </a:tc>
                <a:tc>
                  <a:txBody>
                    <a:bodyPr/>
                    <a:lstStyle/>
                    <a:p>
                      <a:r>
                        <a:rPr lang="en-US" dirty="0" smtClean="0"/>
                        <a:t>Amount of Medicine</a:t>
                      </a:r>
                      <a:endParaRPr lang="en-US" dirty="0"/>
                    </a:p>
                  </a:txBody>
                  <a:tcPr/>
                </a:tc>
              </a:tr>
              <a:tr h="656998">
                <a:tc>
                  <a:txBody>
                    <a:bodyPr/>
                    <a:lstStyle/>
                    <a:p>
                      <a:r>
                        <a:rPr lang="en-US" dirty="0" smtClean="0"/>
                        <a:t>6</a:t>
                      </a:r>
                      <a:endParaRPr lang="en-US" dirty="0"/>
                    </a:p>
                  </a:txBody>
                  <a:tcPr/>
                </a:tc>
                <a:tc>
                  <a:txBody>
                    <a:bodyPr/>
                    <a:lstStyle/>
                    <a:p>
                      <a:r>
                        <a:rPr lang="en-US" dirty="0" smtClean="0"/>
                        <a:t>Quantity</a:t>
                      </a:r>
                      <a:endParaRPr lang="en-US" dirty="0"/>
                    </a:p>
                  </a:txBody>
                  <a:tcPr/>
                </a:tc>
                <a:tc>
                  <a:txBody>
                    <a:bodyPr/>
                    <a:lstStyle/>
                    <a:p>
                      <a:r>
                        <a:rPr lang="en-US" dirty="0" err="1" smtClean="0"/>
                        <a:t>Int</a:t>
                      </a:r>
                      <a:r>
                        <a:rPr lang="en-US" dirty="0" smtClean="0"/>
                        <a:t> </a:t>
                      </a:r>
                      <a:endParaRPr lang="en-US" dirty="0"/>
                    </a:p>
                  </a:txBody>
                  <a:tcPr/>
                </a:tc>
                <a:tc>
                  <a:txBody>
                    <a:bodyPr/>
                    <a:lstStyle/>
                    <a:p>
                      <a:r>
                        <a:rPr lang="en-US" dirty="0" smtClean="0"/>
                        <a:t>5</a:t>
                      </a:r>
                      <a:endParaRPr lang="en-US" dirty="0"/>
                    </a:p>
                  </a:txBody>
                  <a:tcPr/>
                </a:tc>
                <a:tc>
                  <a:txBody>
                    <a:bodyPr/>
                    <a:lstStyle/>
                    <a:p>
                      <a:r>
                        <a:rPr lang="en-US" dirty="0" smtClean="0"/>
                        <a:t>Not Null </a:t>
                      </a:r>
                      <a:endParaRPr lang="en-US" dirty="0"/>
                    </a:p>
                  </a:txBody>
                  <a:tcPr/>
                </a:tc>
                <a:tc>
                  <a:txBody>
                    <a:bodyPr/>
                    <a:lstStyle/>
                    <a:p>
                      <a:r>
                        <a:rPr lang="en-US" dirty="0" smtClean="0"/>
                        <a:t>Quantity Of Medicine</a:t>
                      </a:r>
                      <a:endParaRPr lang="en-US" dirty="0"/>
                    </a:p>
                  </a:txBody>
                  <a:tcPr/>
                </a:tc>
              </a:tr>
              <a:tr h="656998">
                <a:tc>
                  <a:txBody>
                    <a:bodyPr/>
                    <a:lstStyle/>
                    <a:p>
                      <a:r>
                        <a:rPr lang="en-US" dirty="0" smtClean="0"/>
                        <a:t>7</a:t>
                      </a:r>
                      <a:endParaRPr lang="en-US" dirty="0"/>
                    </a:p>
                  </a:txBody>
                  <a:tcPr/>
                </a:tc>
                <a:tc>
                  <a:txBody>
                    <a:bodyPr/>
                    <a:lstStyle/>
                    <a:p>
                      <a:r>
                        <a:rPr lang="en-US" dirty="0" smtClean="0"/>
                        <a:t>Date</a:t>
                      </a:r>
                      <a:endParaRPr lang="en-US" dirty="0"/>
                    </a:p>
                  </a:txBody>
                  <a:tcPr/>
                </a:tc>
                <a:tc>
                  <a:txBody>
                    <a:bodyPr/>
                    <a:lstStyle/>
                    <a:p>
                      <a:r>
                        <a:rPr lang="en-US" dirty="0" smtClean="0"/>
                        <a:t>Date</a:t>
                      </a:r>
                    </a:p>
                  </a:txBody>
                  <a:tcPr/>
                </a:tc>
                <a:tc>
                  <a:txBody>
                    <a:bodyPr/>
                    <a:lstStyle/>
                    <a:p>
                      <a:r>
                        <a:rPr lang="en-US" dirty="0" smtClean="0"/>
                        <a:t>20</a:t>
                      </a:r>
                      <a:endParaRPr lang="en-US" dirty="0"/>
                    </a:p>
                  </a:txBody>
                  <a:tcPr/>
                </a:tc>
                <a:tc>
                  <a:txBody>
                    <a:bodyPr/>
                    <a:lstStyle/>
                    <a:p>
                      <a:r>
                        <a:rPr lang="en-US" dirty="0" smtClean="0"/>
                        <a:t>Not Null</a:t>
                      </a:r>
                      <a:endParaRPr lang="en-US" dirty="0"/>
                    </a:p>
                  </a:txBody>
                  <a:tcPr/>
                </a:tc>
                <a:tc>
                  <a:txBody>
                    <a:bodyPr/>
                    <a:lstStyle/>
                    <a:p>
                      <a:r>
                        <a:rPr lang="en-US" dirty="0" smtClean="0"/>
                        <a:t>Date of Selling Medicine</a:t>
                      </a:r>
                      <a:endParaRPr lang="en-US" dirty="0"/>
                    </a:p>
                  </a:txBody>
                  <a:tcPr/>
                </a:tc>
              </a:tr>
              <a:tr h="380642">
                <a:tc>
                  <a:txBody>
                    <a:bodyPr/>
                    <a:lstStyle/>
                    <a:p>
                      <a:r>
                        <a:rPr lang="en-US" dirty="0" smtClean="0"/>
                        <a:t>8</a:t>
                      </a:r>
                      <a:endParaRPr lang="en-US" dirty="0"/>
                    </a:p>
                  </a:txBody>
                  <a:tcPr/>
                </a:tc>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dirty="0"/>
                    </a:p>
                  </a:txBody>
                  <a:tcPr/>
                </a:tc>
                <a:tc>
                  <a:txBody>
                    <a:bodyPr/>
                    <a:lstStyle/>
                    <a:p>
                      <a:endParaRPr lang="en-US" dirty="0"/>
                    </a:p>
                  </a:txBody>
                  <a:tcPr/>
                </a:tc>
              </a:tr>
            </a:tbl>
          </a:graphicData>
        </a:graphic>
      </p:graphicFrame>
    </p:spTree>
  </p:cSld>
  <p:clrMapOvr>
    <a:masterClrMapping/>
  </p:clrMapOvr>
  <p:transition>
    <p:fade thruBlk="1"/>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515112"/>
          </a:xfrm>
        </p:spPr>
        <p:txBody>
          <a:bodyPr/>
          <a:lstStyle/>
          <a:p>
            <a:r>
              <a:rPr lang="en-US" sz="2800" dirty="0" smtClean="0"/>
              <a:t>Expensive Table :</a:t>
            </a:r>
            <a:endParaRPr lang="en-US" sz="2800" dirty="0"/>
          </a:p>
        </p:txBody>
      </p:sp>
      <p:graphicFrame>
        <p:nvGraphicFramePr>
          <p:cNvPr id="4" name="Content Placeholder 3"/>
          <p:cNvGraphicFramePr>
            <a:graphicFrameLocks noGrp="1"/>
          </p:cNvGraphicFramePr>
          <p:nvPr>
            <p:ph idx="1"/>
          </p:nvPr>
        </p:nvGraphicFramePr>
        <p:xfrm>
          <a:off x="457200" y="1295400"/>
          <a:ext cx="8229600" cy="4267199"/>
        </p:xfrm>
        <a:graphic>
          <a:graphicData uri="http://schemas.openxmlformats.org/drawingml/2006/table">
            <a:tbl>
              <a:tblPr firstRow="1" bandRow="1">
                <a:tableStyleId>{5C22544A-7EE6-4342-B048-85BDC9FD1C3A}</a:tableStyleId>
              </a:tblPr>
              <a:tblGrid>
                <a:gridCol w="914400"/>
                <a:gridCol w="1828800"/>
                <a:gridCol w="1371600"/>
                <a:gridCol w="1066800"/>
                <a:gridCol w="1371600"/>
                <a:gridCol w="1676400"/>
              </a:tblGrid>
              <a:tr h="443109">
                <a:tc>
                  <a:txBody>
                    <a:bodyPr/>
                    <a:lstStyle/>
                    <a:p>
                      <a:r>
                        <a:rPr lang="en-US" dirty="0" err="1" smtClean="0"/>
                        <a:t>Sr</a:t>
                      </a:r>
                      <a:r>
                        <a:rPr lang="en-US" dirty="0" smtClean="0"/>
                        <a:t> No.</a:t>
                      </a:r>
                      <a:endParaRPr lang="en-US" dirty="0"/>
                    </a:p>
                  </a:txBody>
                  <a:tcPr/>
                </a:tc>
                <a:tc>
                  <a:txBody>
                    <a:bodyPr/>
                    <a:lstStyle/>
                    <a:p>
                      <a:r>
                        <a:rPr lang="en-US" dirty="0" smtClean="0"/>
                        <a:t>Field Name.</a:t>
                      </a:r>
                      <a:endParaRPr lang="en-US" dirty="0"/>
                    </a:p>
                  </a:txBody>
                  <a:tcPr/>
                </a:tc>
                <a:tc>
                  <a:txBody>
                    <a:bodyPr/>
                    <a:lstStyle/>
                    <a:p>
                      <a:r>
                        <a:rPr lang="en-US" dirty="0" smtClean="0"/>
                        <a:t>Data  Type</a:t>
                      </a:r>
                      <a:endParaRPr lang="en-US" dirty="0"/>
                    </a:p>
                  </a:txBody>
                  <a:tcPr/>
                </a:tc>
                <a:tc>
                  <a:txBody>
                    <a:bodyPr/>
                    <a:lstStyle/>
                    <a:p>
                      <a:r>
                        <a:rPr lang="en-US" dirty="0" smtClean="0"/>
                        <a:t>Length</a:t>
                      </a:r>
                      <a:endParaRPr lang="en-US" dirty="0"/>
                    </a:p>
                  </a:txBody>
                  <a:tcPr/>
                </a:tc>
                <a:tc>
                  <a:txBody>
                    <a:bodyPr/>
                    <a:lstStyle/>
                    <a:p>
                      <a:r>
                        <a:rPr lang="en-US" dirty="0" smtClean="0"/>
                        <a:t>Constraint</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Description</a:t>
                      </a:r>
                    </a:p>
                  </a:txBody>
                  <a:tcPr/>
                </a:tc>
              </a:tr>
              <a:tr h="764818">
                <a:tc>
                  <a:txBody>
                    <a:bodyPr/>
                    <a:lstStyle/>
                    <a:p>
                      <a:r>
                        <a:rPr lang="en-US" dirty="0" smtClean="0"/>
                        <a:t>1</a:t>
                      </a:r>
                      <a:endParaRPr lang="en-US" dirty="0"/>
                    </a:p>
                  </a:txBody>
                  <a:tcPr/>
                </a:tc>
                <a:tc>
                  <a:txBody>
                    <a:bodyPr/>
                    <a:lstStyle/>
                    <a:p>
                      <a:r>
                        <a:rPr lang="en-US" dirty="0" smtClean="0"/>
                        <a:t>Name</a:t>
                      </a:r>
                      <a:endParaRPr lang="en-US" dirty="0"/>
                    </a:p>
                  </a:txBody>
                  <a:tcPr/>
                </a:tc>
                <a:tc>
                  <a:txBody>
                    <a:bodyPr/>
                    <a:lstStyle/>
                    <a:p>
                      <a:r>
                        <a:rPr lang="en-US" dirty="0" err="1" smtClean="0"/>
                        <a:t>Varchar</a:t>
                      </a:r>
                      <a:endParaRPr lang="en-US" dirty="0"/>
                    </a:p>
                  </a:txBody>
                  <a:tcPr/>
                </a:tc>
                <a:tc>
                  <a:txBody>
                    <a:bodyPr/>
                    <a:lstStyle/>
                    <a:p>
                      <a:r>
                        <a:rPr lang="en-US" dirty="0" smtClean="0"/>
                        <a:t>100</a:t>
                      </a:r>
                      <a:endParaRPr lang="en-US" dirty="0"/>
                    </a:p>
                  </a:txBody>
                  <a:tcPr/>
                </a:tc>
                <a:tc>
                  <a:txBody>
                    <a:bodyPr/>
                    <a:lstStyle/>
                    <a:p>
                      <a:r>
                        <a:rPr lang="en-US" dirty="0" smtClean="0"/>
                        <a:t>Not Null</a:t>
                      </a:r>
                      <a:endParaRPr lang="en-US" dirty="0"/>
                    </a:p>
                  </a:txBody>
                  <a:tcPr/>
                </a:tc>
                <a:tc>
                  <a:txBody>
                    <a:bodyPr/>
                    <a:lstStyle/>
                    <a:p>
                      <a:r>
                        <a:rPr lang="en-US" dirty="0" smtClean="0"/>
                        <a:t>Name of Expensive</a:t>
                      </a:r>
                      <a:endParaRPr lang="en-US" dirty="0"/>
                    </a:p>
                  </a:txBody>
                  <a:tcPr/>
                </a:tc>
              </a:tr>
              <a:tr h="764818">
                <a:tc>
                  <a:txBody>
                    <a:bodyPr/>
                    <a:lstStyle/>
                    <a:p>
                      <a:r>
                        <a:rPr lang="en-US" dirty="0" smtClean="0"/>
                        <a:t>2</a:t>
                      </a:r>
                      <a:endParaRPr lang="en-US" dirty="0"/>
                    </a:p>
                  </a:txBody>
                  <a:tcPr/>
                </a:tc>
                <a:tc>
                  <a:txBody>
                    <a:bodyPr/>
                    <a:lstStyle/>
                    <a:p>
                      <a:r>
                        <a:rPr lang="en-US" dirty="0" smtClean="0"/>
                        <a:t>Amount</a:t>
                      </a:r>
                      <a:endParaRPr lang="en-US" dirty="0"/>
                    </a:p>
                  </a:txBody>
                  <a:tcPr/>
                </a:tc>
                <a:tc>
                  <a:txBody>
                    <a:bodyPr/>
                    <a:lstStyle/>
                    <a:p>
                      <a:r>
                        <a:rPr lang="en-US" dirty="0" smtClean="0"/>
                        <a:t>Double</a:t>
                      </a:r>
                    </a:p>
                    <a:p>
                      <a:endParaRPr lang="en-US" dirty="0" smtClean="0"/>
                    </a:p>
                  </a:txBody>
                  <a:tcPr/>
                </a:tc>
                <a:tc>
                  <a:txBody>
                    <a:bodyPr/>
                    <a:lstStyle/>
                    <a:p>
                      <a:r>
                        <a:rPr lang="en-US" dirty="0" smtClean="0"/>
                        <a:t>5</a:t>
                      </a:r>
                      <a:endParaRPr lang="en-US" dirty="0"/>
                    </a:p>
                  </a:txBody>
                  <a:tcPr/>
                </a:tc>
                <a:tc>
                  <a:txBody>
                    <a:bodyPr/>
                    <a:lstStyle/>
                    <a:p>
                      <a:r>
                        <a:rPr lang="en-US" dirty="0" smtClean="0"/>
                        <a:t>Not null </a:t>
                      </a:r>
                      <a:endParaRPr lang="en-US" dirty="0"/>
                    </a:p>
                  </a:txBody>
                  <a:tcPr/>
                </a:tc>
                <a:tc>
                  <a:txBody>
                    <a:bodyPr/>
                    <a:lstStyle/>
                    <a:p>
                      <a:r>
                        <a:rPr lang="en-US" dirty="0" smtClean="0"/>
                        <a:t>Amount of Expensive</a:t>
                      </a:r>
                      <a:endParaRPr lang="en-US" dirty="0"/>
                    </a:p>
                  </a:txBody>
                  <a:tcPr/>
                </a:tc>
              </a:tr>
              <a:tr h="764818">
                <a:tc>
                  <a:txBody>
                    <a:bodyPr/>
                    <a:lstStyle/>
                    <a:p>
                      <a:r>
                        <a:rPr lang="en-US" dirty="0" smtClean="0"/>
                        <a:t>3</a:t>
                      </a:r>
                      <a:endParaRPr lang="en-US" dirty="0"/>
                    </a:p>
                  </a:txBody>
                  <a:tcPr/>
                </a:tc>
                <a:tc>
                  <a:txBody>
                    <a:bodyPr/>
                    <a:lstStyle/>
                    <a:p>
                      <a:r>
                        <a:rPr lang="en-US" dirty="0" smtClean="0"/>
                        <a:t>Date</a:t>
                      </a:r>
                      <a:endParaRPr lang="en-US" dirty="0"/>
                    </a:p>
                  </a:txBody>
                  <a:tcPr/>
                </a:tc>
                <a:tc>
                  <a:txBody>
                    <a:bodyPr/>
                    <a:lstStyle/>
                    <a:p>
                      <a:r>
                        <a:rPr lang="en-US" dirty="0" smtClean="0"/>
                        <a:t>Date</a:t>
                      </a:r>
                    </a:p>
                    <a:p>
                      <a:endParaRPr lang="en-US" dirty="0"/>
                    </a:p>
                  </a:txBody>
                  <a:tcPr/>
                </a:tc>
                <a:tc>
                  <a:txBody>
                    <a:bodyPr/>
                    <a:lstStyle/>
                    <a:p>
                      <a:r>
                        <a:rPr lang="en-US" dirty="0" smtClean="0"/>
                        <a:t>20</a:t>
                      </a:r>
                      <a:endParaRPr lang="en-US" dirty="0"/>
                    </a:p>
                  </a:txBody>
                  <a:tcPr/>
                </a:tc>
                <a:tc>
                  <a:txBody>
                    <a:bodyPr/>
                    <a:lstStyle/>
                    <a:p>
                      <a:r>
                        <a:rPr lang="en-US" dirty="0" smtClean="0"/>
                        <a:t>Not Null </a:t>
                      </a:r>
                      <a:endParaRPr lang="en-US" dirty="0"/>
                    </a:p>
                  </a:txBody>
                  <a:tcPr/>
                </a:tc>
                <a:tc>
                  <a:txBody>
                    <a:bodyPr/>
                    <a:lstStyle/>
                    <a:p>
                      <a:r>
                        <a:rPr lang="en-US" dirty="0" smtClean="0"/>
                        <a:t>Date Of Expensive</a:t>
                      </a:r>
                      <a:endParaRPr lang="en-US" dirty="0"/>
                    </a:p>
                  </a:txBody>
                  <a:tcPr/>
                </a:tc>
              </a:tr>
              <a:tr h="764818">
                <a:tc>
                  <a:txBody>
                    <a:bodyPr/>
                    <a:lstStyle/>
                    <a:p>
                      <a:r>
                        <a:rPr lang="en-US" dirty="0" smtClean="0"/>
                        <a:t>4</a:t>
                      </a:r>
                      <a:endParaRPr lang="en-US" dirty="0"/>
                    </a:p>
                  </a:txBody>
                  <a:tcPr/>
                </a:tc>
                <a:tc>
                  <a:txBody>
                    <a:bodyPr/>
                    <a:lstStyle/>
                    <a:p>
                      <a:r>
                        <a:rPr lang="en-US" dirty="0" smtClean="0"/>
                        <a:t>Category</a:t>
                      </a:r>
                      <a:endParaRPr lang="en-US" dirty="0"/>
                    </a:p>
                  </a:txBody>
                  <a:tcPr/>
                </a:tc>
                <a:tc>
                  <a:txBody>
                    <a:bodyPr/>
                    <a:lstStyle/>
                    <a:p>
                      <a:r>
                        <a:rPr lang="en-US" dirty="0" err="1" smtClean="0"/>
                        <a:t>Varchar</a:t>
                      </a:r>
                      <a:endParaRPr lang="en-US" dirty="0"/>
                    </a:p>
                  </a:txBody>
                  <a:tcPr/>
                </a:tc>
                <a:tc>
                  <a:txBody>
                    <a:bodyPr/>
                    <a:lstStyle/>
                    <a:p>
                      <a:r>
                        <a:rPr lang="en-US" dirty="0" smtClean="0"/>
                        <a:t>20</a:t>
                      </a:r>
                      <a:endParaRPr lang="en-US" dirty="0"/>
                    </a:p>
                  </a:txBody>
                  <a:tcPr/>
                </a:tc>
                <a:tc>
                  <a:txBody>
                    <a:bodyPr/>
                    <a:lstStyle/>
                    <a:p>
                      <a:r>
                        <a:rPr lang="en-US" dirty="0" smtClean="0"/>
                        <a:t>Not Null </a:t>
                      </a:r>
                      <a:endParaRPr lang="en-US" dirty="0"/>
                    </a:p>
                  </a:txBody>
                  <a:tcPr/>
                </a:tc>
                <a:tc>
                  <a:txBody>
                    <a:bodyPr/>
                    <a:lstStyle/>
                    <a:p>
                      <a:r>
                        <a:rPr lang="en-US" dirty="0" smtClean="0"/>
                        <a:t>Category of Expensive</a:t>
                      </a:r>
                      <a:endParaRPr lang="en-US" dirty="0"/>
                    </a:p>
                  </a:txBody>
                  <a:tcPr/>
                </a:tc>
              </a:tr>
              <a:tr h="764818">
                <a:tc>
                  <a:txBody>
                    <a:bodyPr/>
                    <a:lstStyle/>
                    <a:p>
                      <a:r>
                        <a:rPr lang="en-US" dirty="0" smtClean="0"/>
                        <a:t>5</a:t>
                      </a:r>
                      <a:endParaRPr lang="en-US" dirty="0"/>
                    </a:p>
                  </a:txBody>
                  <a:tcPr/>
                </a:tc>
                <a:tc>
                  <a:txBody>
                    <a:bodyPr/>
                    <a:lstStyle/>
                    <a:p>
                      <a:r>
                        <a:rPr lang="en-US" dirty="0" smtClean="0"/>
                        <a:t>Type </a:t>
                      </a:r>
                      <a:endParaRPr lang="en-US" dirty="0"/>
                    </a:p>
                  </a:txBody>
                  <a:tcPr/>
                </a:tc>
                <a:tc>
                  <a:txBody>
                    <a:bodyPr/>
                    <a:lstStyle/>
                    <a:p>
                      <a:r>
                        <a:rPr lang="en-US" dirty="0" err="1" smtClean="0"/>
                        <a:t>Varchar</a:t>
                      </a:r>
                      <a:endParaRPr lang="en-US" dirty="0"/>
                    </a:p>
                  </a:txBody>
                  <a:tcPr/>
                </a:tc>
                <a:tc>
                  <a:txBody>
                    <a:bodyPr/>
                    <a:lstStyle/>
                    <a:p>
                      <a:r>
                        <a:rPr lang="en-US" dirty="0" smtClean="0"/>
                        <a:t>20</a:t>
                      </a:r>
                      <a:endParaRPr lang="en-US" dirty="0"/>
                    </a:p>
                  </a:txBody>
                  <a:tcPr/>
                </a:tc>
                <a:tc>
                  <a:txBody>
                    <a:bodyPr/>
                    <a:lstStyle/>
                    <a:p>
                      <a:r>
                        <a:rPr lang="en-US" dirty="0" err="1" smtClean="0"/>
                        <a:t>Nto</a:t>
                      </a:r>
                      <a:r>
                        <a:rPr lang="en-US" dirty="0" smtClean="0"/>
                        <a:t> null </a:t>
                      </a:r>
                      <a:endParaRPr lang="en-US" dirty="0"/>
                    </a:p>
                  </a:txBody>
                  <a:tcPr/>
                </a:tc>
                <a:tc>
                  <a:txBody>
                    <a:bodyPr/>
                    <a:lstStyle/>
                    <a:p>
                      <a:r>
                        <a:rPr lang="en-US" dirty="0" smtClean="0"/>
                        <a:t>Expense is Paid Or Not</a:t>
                      </a:r>
                      <a:endParaRPr lang="en-US" dirty="0"/>
                    </a:p>
                  </a:txBody>
                  <a:tcPr/>
                </a:tc>
              </a:tr>
            </a:tbl>
          </a:graphicData>
        </a:graphic>
      </p:graphicFrame>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515112"/>
          </a:xfrm>
        </p:spPr>
        <p:txBody>
          <a:bodyPr/>
          <a:lstStyle/>
          <a:p>
            <a:r>
              <a:rPr lang="en-US" sz="2800" dirty="0" smtClean="0"/>
              <a:t>Credit Table :</a:t>
            </a:r>
            <a:endParaRPr lang="en-US" sz="2800" dirty="0"/>
          </a:p>
        </p:txBody>
      </p:sp>
      <p:graphicFrame>
        <p:nvGraphicFramePr>
          <p:cNvPr id="4" name="Content Placeholder 3"/>
          <p:cNvGraphicFramePr>
            <a:graphicFrameLocks noGrp="1"/>
          </p:cNvGraphicFramePr>
          <p:nvPr>
            <p:ph idx="1"/>
          </p:nvPr>
        </p:nvGraphicFramePr>
        <p:xfrm>
          <a:off x="457200" y="1295400"/>
          <a:ext cx="8229600" cy="3502381"/>
        </p:xfrm>
        <a:graphic>
          <a:graphicData uri="http://schemas.openxmlformats.org/drawingml/2006/table">
            <a:tbl>
              <a:tblPr firstRow="1" bandRow="1">
                <a:tableStyleId>{5C22544A-7EE6-4342-B048-85BDC9FD1C3A}</a:tableStyleId>
              </a:tblPr>
              <a:tblGrid>
                <a:gridCol w="914400"/>
                <a:gridCol w="1828800"/>
                <a:gridCol w="1371600"/>
                <a:gridCol w="1066800"/>
                <a:gridCol w="1371600"/>
                <a:gridCol w="1676400"/>
              </a:tblGrid>
              <a:tr h="443109">
                <a:tc>
                  <a:txBody>
                    <a:bodyPr/>
                    <a:lstStyle/>
                    <a:p>
                      <a:r>
                        <a:rPr lang="en-US" dirty="0" err="1" smtClean="0"/>
                        <a:t>Sr</a:t>
                      </a:r>
                      <a:r>
                        <a:rPr lang="en-US" dirty="0" smtClean="0"/>
                        <a:t> No.</a:t>
                      </a:r>
                      <a:endParaRPr lang="en-US" dirty="0"/>
                    </a:p>
                  </a:txBody>
                  <a:tcPr/>
                </a:tc>
                <a:tc>
                  <a:txBody>
                    <a:bodyPr/>
                    <a:lstStyle/>
                    <a:p>
                      <a:r>
                        <a:rPr lang="en-US" dirty="0" smtClean="0"/>
                        <a:t>Field Name.</a:t>
                      </a:r>
                      <a:endParaRPr lang="en-US" dirty="0"/>
                    </a:p>
                  </a:txBody>
                  <a:tcPr/>
                </a:tc>
                <a:tc>
                  <a:txBody>
                    <a:bodyPr/>
                    <a:lstStyle/>
                    <a:p>
                      <a:r>
                        <a:rPr lang="en-US" dirty="0" smtClean="0"/>
                        <a:t>Data  Type</a:t>
                      </a:r>
                      <a:endParaRPr lang="en-US" dirty="0"/>
                    </a:p>
                  </a:txBody>
                  <a:tcPr/>
                </a:tc>
                <a:tc>
                  <a:txBody>
                    <a:bodyPr/>
                    <a:lstStyle/>
                    <a:p>
                      <a:r>
                        <a:rPr lang="en-US" dirty="0" smtClean="0"/>
                        <a:t>Length</a:t>
                      </a:r>
                      <a:endParaRPr lang="en-US" dirty="0"/>
                    </a:p>
                  </a:txBody>
                  <a:tcPr/>
                </a:tc>
                <a:tc>
                  <a:txBody>
                    <a:bodyPr/>
                    <a:lstStyle/>
                    <a:p>
                      <a:r>
                        <a:rPr lang="en-US" dirty="0" smtClean="0"/>
                        <a:t>Constraint</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Description</a:t>
                      </a:r>
                    </a:p>
                  </a:txBody>
                  <a:tcPr/>
                </a:tc>
              </a:tr>
              <a:tr h="764818">
                <a:tc>
                  <a:txBody>
                    <a:bodyPr/>
                    <a:lstStyle/>
                    <a:p>
                      <a:r>
                        <a:rPr lang="en-US" dirty="0" smtClean="0"/>
                        <a:t>1</a:t>
                      </a:r>
                      <a:endParaRPr lang="en-US" dirty="0"/>
                    </a:p>
                  </a:txBody>
                  <a:tcPr/>
                </a:tc>
                <a:tc>
                  <a:txBody>
                    <a:bodyPr/>
                    <a:lstStyle/>
                    <a:p>
                      <a:r>
                        <a:rPr lang="en-US" dirty="0" smtClean="0"/>
                        <a:t>Name</a:t>
                      </a:r>
                      <a:endParaRPr lang="en-US" dirty="0"/>
                    </a:p>
                  </a:txBody>
                  <a:tcPr/>
                </a:tc>
                <a:tc>
                  <a:txBody>
                    <a:bodyPr/>
                    <a:lstStyle/>
                    <a:p>
                      <a:r>
                        <a:rPr lang="en-US" dirty="0" err="1" smtClean="0"/>
                        <a:t>Varchar</a:t>
                      </a:r>
                      <a:endParaRPr lang="en-US" dirty="0"/>
                    </a:p>
                  </a:txBody>
                  <a:tcPr/>
                </a:tc>
                <a:tc>
                  <a:txBody>
                    <a:bodyPr/>
                    <a:lstStyle/>
                    <a:p>
                      <a:r>
                        <a:rPr lang="en-US" dirty="0" smtClean="0"/>
                        <a:t>100</a:t>
                      </a:r>
                      <a:endParaRPr lang="en-US" dirty="0"/>
                    </a:p>
                  </a:txBody>
                  <a:tcPr/>
                </a:tc>
                <a:tc>
                  <a:txBody>
                    <a:bodyPr/>
                    <a:lstStyle/>
                    <a:p>
                      <a:r>
                        <a:rPr lang="en-US" dirty="0" smtClean="0"/>
                        <a:t>Not Null</a:t>
                      </a:r>
                      <a:endParaRPr lang="en-US" dirty="0"/>
                    </a:p>
                  </a:txBody>
                  <a:tcPr/>
                </a:tc>
                <a:tc>
                  <a:txBody>
                    <a:bodyPr/>
                    <a:lstStyle/>
                    <a:p>
                      <a:r>
                        <a:rPr lang="en-US" dirty="0" smtClean="0"/>
                        <a:t>Name of</a:t>
                      </a:r>
                      <a:r>
                        <a:rPr lang="en-US" baseline="0" dirty="0" smtClean="0"/>
                        <a:t> </a:t>
                      </a:r>
                      <a:r>
                        <a:rPr lang="en-US" dirty="0" smtClean="0"/>
                        <a:t>Credit</a:t>
                      </a:r>
                      <a:endParaRPr lang="en-US" dirty="0"/>
                    </a:p>
                  </a:txBody>
                  <a:tcPr/>
                </a:tc>
              </a:tr>
              <a:tr h="764818">
                <a:tc>
                  <a:txBody>
                    <a:bodyPr/>
                    <a:lstStyle/>
                    <a:p>
                      <a:r>
                        <a:rPr lang="en-US" dirty="0" smtClean="0"/>
                        <a:t>2</a:t>
                      </a:r>
                      <a:endParaRPr lang="en-US" dirty="0"/>
                    </a:p>
                  </a:txBody>
                  <a:tcPr/>
                </a:tc>
                <a:tc>
                  <a:txBody>
                    <a:bodyPr/>
                    <a:lstStyle/>
                    <a:p>
                      <a:r>
                        <a:rPr lang="en-US" dirty="0" smtClean="0"/>
                        <a:t>Amount</a:t>
                      </a:r>
                      <a:endParaRPr lang="en-US" dirty="0"/>
                    </a:p>
                  </a:txBody>
                  <a:tcPr/>
                </a:tc>
                <a:tc>
                  <a:txBody>
                    <a:bodyPr/>
                    <a:lstStyle/>
                    <a:p>
                      <a:r>
                        <a:rPr lang="en-US" dirty="0" smtClean="0"/>
                        <a:t>Double</a:t>
                      </a:r>
                    </a:p>
                  </a:txBody>
                  <a:tcPr/>
                </a:tc>
                <a:tc>
                  <a:txBody>
                    <a:bodyPr/>
                    <a:lstStyle/>
                    <a:p>
                      <a:r>
                        <a:rPr lang="en-US" dirty="0" smtClean="0"/>
                        <a:t>5</a:t>
                      </a:r>
                      <a:endParaRPr lang="en-US" dirty="0"/>
                    </a:p>
                  </a:txBody>
                  <a:tcPr/>
                </a:tc>
                <a:tc>
                  <a:txBody>
                    <a:bodyPr/>
                    <a:lstStyle/>
                    <a:p>
                      <a:r>
                        <a:rPr lang="en-US" dirty="0" smtClean="0"/>
                        <a:t>Not null </a:t>
                      </a:r>
                      <a:endParaRPr lang="en-US" dirty="0"/>
                    </a:p>
                  </a:txBody>
                  <a:tcPr/>
                </a:tc>
                <a:tc>
                  <a:txBody>
                    <a:bodyPr/>
                    <a:lstStyle/>
                    <a:p>
                      <a:r>
                        <a:rPr lang="en-US" dirty="0" smtClean="0"/>
                        <a:t>Amount of Credit</a:t>
                      </a:r>
                      <a:endParaRPr lang="en-US" dirty="0"/>
                    </a:p>
                  </a:txBody>
                  <a:tcPr/>
                </a:tc>
              </a:tr>
              <a:tr h="764818">
                <a:tc>
                  <a:txBody>
                    <a:bodyPr/>
                    <a:lstStyle/>
                    <a:p>
                      <a:r>
                        <a:rPr lang="en-US" dirty="0" smtClean="0"/>
                        <a:t>3</a:t>
                      </a:r>
                      <a:endParaRPr lang="en-US" dirty="0"/>
                    </a:p>
                  </a:txBody>
                  <a:tcPr/>
                </a:tc>
                <a:tc>
                  <a:txBody>
                    <a:bodyPr/>
                    <a:lstStyle/>
                    <a:p>
                      <a:r>
                        <a:rPr lang="en-US" dirty="0" smtClean="0"/>
                        <a:t>Date</a:t>
                      </a:r>
                      <a:endParaRPr lang="en-US" dirty="0"/>
                    </a:p>
                  </a:txBody>
                  <a:tcPr/>
                </a:tc>
                <a:tc>
                  <a:txBody>
                    <a:bodyPr/>
                    <a:lstStyle/>
                    <a:p>
                      <a:r>
                        <a:rPr lang="en-US" dirty="0" smtClean="0"/>
                        <a:t>Date</a:t>
                      </a:r>
                    </a:p>
                  </a:txBody>
                  <a:tcPr/>
                </a:tc>
                <a:tc>
                  <a:txBody>
                    <a:bodyPr/>
                    <a:lstStyle/>
                    <a:p>
                      <a:r>
                        <a:rPr lang="en-US" dirty="0" smtClean="0"/>
                        <a:t>20</a:t>
                      </a:r>
                      <a:endParaRPr lang="en-US" dirty="0"/>
                    </a:p>
                  </a:txBody>
                  <a:tcPr/>
                </a:tc>
                <a:tc>
                  <a:txBody>
                    <a:bodyPr/>
                    <a:lstStyle/>
                    <a:p>
                      <a:r>
                        <a:rPr lang="en-US" dirty="0" smtClean="0"/>
                        <a:t>Not Null </a:t>
                      </a:r>
                      <a:endParaRPr lang="en-US" dirty="0"/>
                    </a:p>
                  </a:txBody>
                  <a:tcPr/>
                </a:tc>
                <a:tc>
                  <a:txBody>
                    <a:bodyPr/>
                    <a:lstStyle/>
                    <a:p>
                      <a:r>
                        <a:rPr lang="en-US" dirty="0" smtClean="0"/>
                        <a:t>Date Of Credit</a:t>
                      </a:r>
                      <a:endParaRPr lang="en-US" dirty="0"/>
                    </a:p>
                  </a:txBody>
                  <a:tcPr/>
                </a:tc>
              </a:tr>
              <a:tr h="764818">
                <a:tc>
                  <a:txBody>
                    <a:bodyPr/>
                    <a:lstStyle/>
                    <a:p>
                      <a:r>
                        <a:rPr lang="en-US" dirty="0" smtClean="0"/>
                        <a:t>4</a:t>
                      </a:r>
                      <a:endParaRPr lang="en-US" dirty="0"/>
                    </a:p>
                  </a:txBody>
                  <a:tcPr/>
                </a:tc>
                <a:tc>
                  <a:txBody>
                    <a:bodyPr/>
                    <a:lstStyle/>
                    <a:p>
                      <a:r>
                        <a:rPr lang="en-US" dirty="0" smtClean="0"/>
                        <a:t>Category</a:t>
                      </a:r>
                      <a:endParaRPr lang="en-US" dirty="0"/>
                    </a:p>
                  </a:txBody>
                  <a:tcPr/>
                </a:tc>
                <a:tc>
                  <a:txBody>
                    <a:bodyPr/>
                    <a:lstStyle/>
                    <a:p>
                      <a:r>
                        <a:rPr lang="en-US" dirty="0" err="1" smtClean="0"/>
                        <a:t>Varchar</a:t>
                      </a:r>
                      <a:endParaRPr lang="en-US" dirty="0"/>
                    </a:p>
                  </a:txBody>
                  <a:tcPr/>
                </a:tc>
                <a:tc>
                  <a:txBody>
                    <a:bodyPr/>
                    <a:lstStyle/>
                    <a:p>
                      <a:r>
                        <a:rPr lang="en-US" dirty="0" smtClean="0"/>
                        <a:t>20</a:t>
                      </a:r>
                      <a:endParaRPr lang="en-US" dirty="0"/>
                    </a:p>
                  </a:txBody>
                  <a:tcPr/>
                </a:tc>
                <a:tc>
                  <a:txBody>
                    <a:bodyPr/>
                    <a:lstStyle/>
                    <a:p>
                      <a:r>
                        <a:rPr lang="en-US" dirty="0" smtClean="0"/>
                        <a:t>Not Null </a:t>
                      </a:r>
                      <a:endParaRPr lang="en-US" dirty="0"/>
                    </a:p>
                  </a:txBody>
                  <a:tcPr/>
                </a:tc>
                <a:tc>
                  <a:txBody>
                    <a:bodyPr/>
                    <a:lstStyle/>
                    <a:p>
                      <a:r>
                        <a:rPr lang="en-US" dirty="0" smtClean="0"/>
                        <a:t>Category of</a:t>
                      </a:r>
                      <a:r>
                        <a:rPr lang="en-US" baseline="0" dirty="0" smtClean="0"/>
                        <a:t> Credit</a:t>
                      </a:r>
                      <a:endParaRPr lang="en-US" dirty="0"/>
                    </a:p>
                  </a:txBody>
                  <a:tcPr/>
                </a:tc>
              </a:tr>
            </a:tbl>
          </a:graphicData>
        </a:graphic>
      </p:graphicFrame>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515112"/>
          </a:xfrm>
        </p:spPr>
        <p:txBody>
          <a:bodyPr/>
          <a:lstStyle/>
          <a:p>
            <a:r>
              <a:rPr lang="en-US" sz="2800" dirty="0" smtClean="0"/>
              <a:t>Selling Medicine Table :</a:t>
            </a:r>
            <a:endParaRPr lang="en-US" sz="2800" dirty="0"/>
          </a:p>
        </p:txBody>
      </p:sp>
      <p:graphicFrame>
        <p:nvGraphicFramePr>
          <p:cNvPr id="4" name="Content Placeholder 3"/>
          <p:cNvGraphicFramePr>
            <a:graphicFrameLocks noGrp="1"/>
          </p:cNvGraphicFramePr>
          <p:nvPr>
            <p:ph idx="1"/>
          </p:nvPr>
        </p:nvGraphicFramePr>
        <p:xfrm>
          <a:off x="457200" y="1295400"/>
          <a:ext cx="8229600" cy="4724400"/>
        </p:xfrm>
        <a:graphic>
          <a:graphicData uri="http://schemas.openxmlformats.org/drawingml/2006/table">
            <a:tbl>
              <a:tblPr firstRow="1" bandRow="1">
                <a:tableStyleId>{5C22544A-7EE6-4342-B048-85BDC9FD1C3A}</a:tableStyleId>
              </a:tblPr>
              <a:tblGrid>
                <a:gridCol w="914400"/>
                <a:gridCol w="1828800"/>
                <a:gridCol w="1371600"/>
                <a:gridCol w="1066800"/>
                <a:gridCol w="1371600"/>
                <a:gridCol w="1676400"/>
              </a:tblGrid>
              <a:tr h="490585">
                <a:tc>
                  <a:txBody>
                    <a:bodyPr/>
                    <a:lstStyle/>
                    <a:p>
                      <a:r>
                        <a:rPr lang="en-US" dirty="0" err="1" smtClean="0"/>
                        <a:t>Sr</a:t>
                      </a:r>
                      <a:r>
                        <a:rPr lang="en-US" dirty="0" smtClean="0"/>
                        <a:t> No.</a:t>
                      </a:r>
                      <a:endParaRPr lang="en-US" dirty="0"/>
                    </a:p>
                  </a:txBody>
                  <a:tcPr/>
                </a:tc>
                <a:tc>
                  <a:txBody>
                    <a:bodyPr/>
                    <a:lstStyle/>
                    <a:p>
                      <a:r>
                        <a:rPr lang="en-US" dirty="0" smtClean="0"/>
                        <a:t>Field Name.</a:t>
                      </a:r>
                      <a:endParaRPr lang="en-US" dirty="0"/>
                    </a:p>
                  </a:txBody>
                  <a:tcPr/>
                </a:tc>
                <a:tc>
                  <a:txBody>
                    <a:bodyPr/>
                    <a:lstStyle/>
                    <a:p>
                      <a:r>
                        <a:rPr lang="en-US" dirty="0" smtClean="0"/>
                        <a:t>Data  Type</a:t>
                      </a:r>
                      <a:endParaRPr lang="en-US" dirty="0"/>
                    </a:p>
                  </a:txBody>
                  <a:tcPr/>
                </a:tc>
                <a:tc>
                  <a:txBody>
                    <a:bodyPr/>
                    <a:lstStyle/>
                    <a:p>
                      <a:r>
                        <a:rPr lang="en-US" dirty="0" smtClean="0"/>
                        <a:t>Length</a:t>
                      </a:r>
                      <a:endParaRPr lang="en-US" dirty="0"/>
                    </a:p>
                  </a:txBody>
                  <a:tcPr/>
                </a:tc>
                <a:tc>
                  <a:txBody>
                    <a:bodyPr/>
                    <a:lstStyle/>
                    <a:p>
                      <a:r>
                        <a:rPr lang="en-US" dirty="0" smtClean="0"/>
                        <a:t>Constraint</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Description</a:t>
                      </a:r>
                    </a:p>
                  </a:txBody>
                  <a:tcPr/>
                </a:tc>
              </a:tr>
              <a:tr h="846763">
                <a:tc>
                  <a:txBody>
                    <a:bodyPr/>
                    <a:lstStyle/>
                    <a:p>
                      <a:r>
                        <a:rPr lang="en-US" dirty="0" smtClean="0"/>
                        <a:t>1</a:t>
                      </a:r>
                      <a:endParaRPr lang="en-US" dirty="0"/>
                    </a:p>
                  </a:txBody>
                  <a:tcPr/>
                </a:tc>
                <a:tc>
                  <a:txBody>
                    <a:bodyPr/>
                    <a:lstStyle/>
                    <a:p>
                      <a:r>
                        <a:rPr lang="en-US" dirty="0" smtClean="0"/>
                        <a:t>Name</a:t>
                      </a:r>
                      <a:endParaRPr lang="en-US" dirty="0"/>
                    </a:p>
                  </a:txBody>
                  <a:tcPr/>
                </a:tc>
                <a:tc>
                  <a:txBody>
                    <a:bodyPr/>
                    <a:lstStyle/>
                    <a:p>
                      <a:r>
                        <a:rPr lang="en-US" dirty="0" err="1" smtClean="0"/>
                        <a:t>Varchar</a:t>
                      </a:r>
                      <a:endParaRPr lang="en-US" dirty="0"/>
                    </a:p>
                  </a:txBody>
                  <a:tcPr/>
                </a:tc>
                <a:tc>
                  <a:txBody>
                    <a:bodyPr/>
                    <a:lstStyle/>
                    <a:p>
                      <a:r>
                        <a:rPr lang="en-US" dirty="0" smtClean="0"/>
                        <a:t>100</a:t>
                      </a:r>
                      <a:endParaRPr lang="en-US" dirty="0"/>
                    </a:p>
                  </a:txBody>
                  <a:tcPr/>
                </a:tc>
                <a:tc>
                  <a:txBody>
                    <a:bodyPr/>
                    <a:lstStyle/>
                    <a:p>
                      <a:r>
                        <a:rPr lang="en-US" dirty="0" smtClean="0"/>
                        <a:t>Not Null</a:t>
                      </a:r>
                      <a:endParaRPr lang="en-US" dirty="0"/>
                    </a:p>
                  </a:txBody>
                  <a:tcPr/>
                </a:tc>
                <a:tc>
                  <a:txBody>
                    <a:bodyPr/>
                    <a:lstStyle/>
                    <a:p>
                      <a:r>
                        <a:rPr lang="en-US" dirty="0" smtClean="0"/>
                        <a:t>Name of</a:t>
                      </a:r>
                      <a:r>
                        <a:rPr lang="en-US" baseline="0" dirty="0" smtClean="0"/>
                        <a:t> Medicine</a:t>
                      </a:r>
                      <a:endParaRPr lang="en-US" dirty="0"/>
                    </a:p>
                  </a:txBody>
                  <a:tcPr/>
                </a:tc>
              </a:tr>
              <a:tr h="846763">
                <a:tc>
                  <a:txBody>
                    <a:bodyPr/>
                    <a:lstStyle/>
                    <a:p>
                      <a:r>
                        <a:rPr lang="en-US" dirty="0" smtClean="0"/>
                        <a:t>2</a:t>
                      </a:r>
                      <a:endParaRPr lang="en-US" dirty="0"/>
                    </a:p>
                  </a:txBody>
                  <a:tcPr/>
                </a:tc>
                <a:tc>
                  <a:txBody>
                    <a:bodyPr/>
                    <a:lstStyle/>
                    <a:p>
                      <a:r>
                        <a:rPr lang="en-US" dirty="0" smtClean="0"/>
                        <a:t>Amount</a:t>
                      </a:r>
                      <a:endParaRPr lang="en-US" dirty="0"/>
                    </a:p>
                  </a:txBody>
                  <a:tcPr/>
                </a:tc>
                <a:tc>
                  <a:txBody>
                    <a:bodyPr/>
                    <a:lstStyle/>
                    <a:p>
                      <a:r>
                        <a:rPr lang="en-US" dirty="0" smtClean="0"/>
                        <a:t>Double</a:t>
                      </a:r>
                    </a:p>
                    <a:p>
                      <a:endParaRPr lang="en-US" dirty="0"/>
                    </a:p>
                  </a:txBody>
                  <a:tcPr/>
                </a:tc>
                <a:tc>
                  <a:txBody>
                    <a:bodyPr/>
                    <a:lstStyle/>
                    <a:p>
                      <a:r>
                        <a:rPr lang="en-US" dirty="0" smtClean="0"/>
                        <a:t>5</a:t>
                      </a:r>
                      <a:endParaRPr lang="en-US" dirty="0"/>
                    </a:p>
                  </a:txBody>
                  <a:tcPr/>
                </a:tc>
                <a:tc>
                  <a:txBody>
                    <a:bodyPr/>
                    <a:lstStyle/>
                    <a:p>
                      <a:r>
                        <a:rPr lang="en-US" dirty="0" smtClean="0"/>
                        <a:t>Not null </a:t>
                      </a:r>
                      <a:endParaRPr lang="en-US" dirty="0"/>
                    </a:p>
                  </a:txBody>
                  <a:tcPr/>
                </a:tc>
                <a:tc>
                  <a:txBody>
                    <a:bodyPr/>
                    <a:lstStyle/>
                    <a:p>
                      <a:r>
                        <a:rPr lang="en-US" dirty="0" smtClean="0"/>
                        <a:t>Amount</a:t>
                      </a:r>
                      <a:r>
                        <a:rPr lang="en-US" baseline="0" dirty="0" smtClean="0"/>
                        <a:t> Of Medicine Qty</a:t>
                      </a:r>
                      <a:endParaRPr lang="en-US" dirty="0"/>
                    </a:p>
                  </a:txBody>
                  <a:tcPr/>
                </a:tc>
              </a:tr>
              <a:tr h="846763">
                <a:tc>
                  <a:txBody>
                    <a:bodyPr/>
                    <a:lstStyle/>
                    <a:p>
                      <a:r>
                        <a:rPr lang="en-US" dirty="0" smtClean="0"/>
                        <a:t>3</a:t>
                      </a:r>
                      <a:endParaRPr lang="en-US" dirty="0"/>
                    </a:p>
                  </a:txBody>
                  <a:tcPr/>
                </a:tc>
                <a:tc>
                  <a:txBody>
                    <a:bodyPr/>
                    <a:lstStyle/>
                    <a:p>
                      <a:r>
                        <a:rPr lang="en-US" dirty="0" smtClean="0"/>
                        <a:t>Selling</a:t>
                      </a:r>
                      <a:r>
                        <a:rPr lang="en-US" baseline="0" dirty="0" smtClean="0"/>
                        <a:t> Price</a:t>
                      </a:r>
                      <a:endParaRPr lang="en-US" dirty="0"/>
                    </a:p>
                  </a:txBody>
                  <a:tcPr/>
                </a:tc>
                <a:tc>
                  <a:txBody>
                    <a:bodyPr/>
                    <a:lstStyle/>
                    <a:p>
                      <a:r>
                        <a:rPr lang="en-US" dirty="0" smtClean="0"/>
                        <a:t>Double</a:t>
                      </a:r>
                    </a:p>
                  </a:txBody>
                  <a:tcPr/>
                </a:tc>
                <a:tc>
                  <a:txBody>
                    <a:bodyPr/>
                    <a:lstStyle/>
                    <a:p>
                      <a:r>
                        <a:rPr lang="en-US" dirty="0" smtClean="0"/>
                        <a:t>5</a:t>
                      </a:r>
                      <a:endParaRPr lang="en-US" dirty="0"/>
                    </a:p>
                  </a:txBody>
                  <a:tcPr/>
                </a:tc>
                <a:tc>
                  <a:txBody>
                    <a:bodyPr/>
                    <a:lstStyle/>
                    <a:p>
                      <a:r>
                        <a:rPr lang="en-US" dirty="0" smtClean="0"/>
                        <a:t>Not Null </a:t>
                      </a:r>
                      <a:endParaRPr lang="en-US" dirty="0"/>
                    </a:p>
                  </a:txBody>
                  <a:tcPr/>
                </a:tc>
                <a:tc>
                  <a:txBody>
                    <a:bodyPr/>
                    <a:lstStyle/>
                    <a:p>
                      <a:r>
                        <a:rPr lang="en-US" dirty="0" smtClean="0"/>
                        <a:t>Selling</a:t>
                      </a:r>
                      <a:r>
                        <a:rPr lang="en-US" baseline="0" dirty="0" smtClean="0"/>
                        <a:t> price of Medicine</a:t>
                      </a:r>
                      <a:endParaRPr lang="en-US" dirty="0"/>
                    </a:p>
                  </a:txBody>
                  <a:tcPr/>
                </a:tc>
              </a:tr>
              <a:tr h="846763">
                <a:tc>
                  <a:txBody>
                    <a:bodyPr/>
                    <a:lstStyle/>
                    <a:p>
                      <a:r>
                        <a:rPr lang="en-US" dirty="0" smtClean="0"/>
                        <a:t>4</a:t>
                      </a:r>
                      <a:endParaRPr lang="en-US" dirty="0"/>
                    </a:p>
                  </a:txBody>
                  <a:tcPr/>
                </a:tc>
                <a:tc>
                  <a:txBody>
                    <a:bodyPr/>
                    <a:lstStyle/>
                    <a:p>
                      <a:r>
                        <a:rPr lang="en-US" dirty="0" smtClean="0"/>
                        <a:t>Qty</a:t>
                      </a:r>
                      <a:endParaRPr lang="en-US" dirty="0"/>
                    </a:p>
                  </a:txBody>
                  <a:tcPr/>
                </a:tc>
                <a:tc>
                  <a:txBody>
                    <a:bodyPr/>
                    <a:lstStyle/>
                    <a:p>
                      <a:r>
                        <a:rPr lang="en-US" dirty="0" err="1" smtClean="0"/>
                        <a:t>Int</a:t>
                      </a:r>
                      <a:endParaRPr lang="en-US" dirty="0"/>
                    </a:p>
                  </a:txBody>
                  <a:tcPr/>
                </a:tc>
                <a:tc>
                  <a:txBody>
                    <a:bodyPr/>
                    <a:lstStyle/>
                    <a:p>
                      <a:r>
                        <a:rPr lang="en-US" dirty="0" smtClean="0"/>
                        <a:t>5</a:t>
                      </a:r>
                      <a:endParaRPr lang="en-US" dirty="0"/>
                    </a:p>
                  </a:txBody>
                  <a:tcPr/>
                </a:tc>
                <a:tc>
                  <a:txBody>
                    <a:bodyPr/>
                    <a:lstStyle/>
                    <a:p>
                      <a:r>
                        <a:rPr lang="en-US" dirty="0" smtClean="0"/>
                        <a:t>Not Null </a:t>
                      </a:r>
                      <a:endParaRPr lang="en-US" dirty="0"/>
                    </a:p>
                  </a:txBody>
                  <a:tcPr/>
                </a:tc>
                <a:tc>
                  <a:txBody>
                    <a:bodyPr/>
                    <a:lstStyle/>
                    <a:p>
                      <a:r>
                        <a:rPr lang="en-US" dirty="0" smtClean="0"/>
                        <a:t>Qty</a:t>
                      </a:r>
                      <a:r>
                        <a:rPr lang="en-US" baseline="0" dirty="0" smtClean="0"/>
                        <a:t> of Selling Medicine</a:t>
                      </a:r>
                      <a:endParaRPr lang="en-US" dirty="0"/>
                    </a:p>
                  </a:txBody>
                  <a:tcPr/>
                </a:tc>
              </a:tr>
              <a:tr h="846763">
                <a:tc>
                  <a:txBody>
                    <a:bodyPr/>
                    <a:lstStyle/>
                    <a:p>
                      <a:r>
                        <a:rPr lang="en-US" dirty="0" smtClean="0"/>
                        <a:t>5</a:t>
                      </a:r>
                      <a:endParaRPr lang="en-US" dirty="0"/>
                    </a:p>
                  </a:txBody>
                  <a:tcPr/>
                </a:tc>
                <a:tc>
                  <a:txBody>
                    <a:bodyPr/>
                    <a:lstStyle/>
                    <a:p>
                      <a:r>
                        <a:rPr lang="en-US" dirty="0" smtClean="0"/>
                        <a:t>Date</a:t>
                      </a:r>
                      <a:endParaRPr lang="en-US" dirty="0"/>
                    </a:p>
                  </a:txBody>
                  <a:tcPr/>
                </a:tc>
                <a:tc>
                  <a:txBody>
                    <a:bodyPr/>
                    <a:lstStyle/>
                    <a:p>
                      <a:r>
                        <a:rPr lang="en-US" dirty="0" smtClean="0"/>
                        <a:t>Date</a:t>
                      </a:r>
                    </a:p>
                  </a:txBody>
                  <a:tcPr/>
                </a:tc>
                <a:tc>
                  <a:txBody>
                    <a:bodyPr/>
                    <a:lstStyle/>
                    <a:p>
                      <a:r>
                        <a:rPr lang="en-US" dirty="0" smtClean="0"/>
                        <a:t>20</a:t>
                      </a:r>
                      <a:endParaRPr lang="en-US" dirty="0"/>
                    </a:p>
                  </a:txBody>
                  <a:tcPr/>
                </a:tc>
                <a:tc>
                  <a:txBody>
                    <a:bodyPr/>
                    <a:lstStyle/>
                    <a:p>
                      <a:r>
                        <a:rPr lang="en-US" dirty="0" smtClean="0"/>
                        <a:t>Not Null</a:t>
                      </a:r>
                      <a:endParaRPr lang="en-US" dirty="0"/>
                    </a:p>
                  </a:txBody>
                  <a:tcPr/>
                </a:tc>
                <a:tc>
                  <a:txBody>
                    <a:bodyPr/>
                    <a:lstStyle/>
                    <a:p>
                      <a:fld id="{39700ED1-978B-41D2-B6EC-A4975880B1C9}" type="slidenum">
                        <a:rPr lang="en-US" smtClean="0"/>
                        <a:pPr/>
                        <a:t>24</a:t>
                      </a:fld>
                      <a:endParaRPr lang="en-US" dirty="0"/>
                    </a:p>
                  </a:txBody>
                  <a:tcPr/>
                </a:tc>
              </a:tr>
            </a:tbl>
          </a:graphicData>
        </a:graphic>
      </p:graphicFrame>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229600" cy="533400"/>
          </a:xfrm>
        </p:spPr>
        <p:txBody>
          <a:bodyPr/>
          <a:lstStyle/>
          <a:p>
            <a:r>
              <a:rPr lang="en-US" sz="2800" dirty="0" smtClean="0"/>
              <a:t>System flow Diagram :</a:t>
            </a:r>
            <a:endParaRPr lang="en-US" sz="2800" dirty="0"/>
          </a:p>
        </p:txBody>
      </p:sp>
      <p:pic>
        <p:nvPicPr>
          <p:cNvPr id="6" name="Content Placeholder 5" descr="SystemFlow_Diagram.jpeg"/>
          <p:cNvPicPr>
            <a:picLocks noGrp="1" noChangeAspect="1"/>
          </p:cNvPicPr>
          <p:nvPr>
            <p:ph idx="1"/>
          </p:nvPr>
        </p:nvPicPr>
        <p:blipFill>
          <a:blip r:embed="rId2"/>
          <a:stretch>
            <a:fillRect/>
          </a:stretch>
        </p:blipFill>
        <p:spPr>
          <a:xfrm>
            <a:off x="838200" y="1066801"/>
            <a:ext cx="7543800" cy="5791200"/>
          </a:xfrm>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667512"/>
          </a:xfrm>
        </p:spPr>
        <p:txBody>
          <a:bodyPr/>
          <a:lstStyle/>
          <a:p>
            <a:r>
              <a:rPr lang="en-US" sz="3600" dirty="0" smtClean="0"/>
              <a:t>User Interface :</a:t>
            </a:r>
            <a:endParaRPr lang="en-US" dirty="0"/>
          </a:p>
        </p:txBody>
      </p:sp>
      <p:sp>
        <p:nvSpPr>
          <p:cNvPr id="5" name="Content Placeholder 4"/>
          <p:cNvSpPr>
            <a:spLocks noGrp="1"/>
          </p:cNvSpPr>
          <p:nvPr>
            <p:ph idx="1"/>
          </p:nvPr>
        </p:nvSpPr>
        <p:spPr/>
        <p:txBody>
          <a:bodyPr/>
          <a:lstStyle/>
          <a:p>
            <a:r>
              <a:rPr lang="en-US" dirty="0" smtClean="0"/>
              <a:t>Register :</a:t>
            </a:r>
          </a:p>
          <a:p>
            <a:endParaRPr lang="en-US" dirty="0"/>
          </a:p>
        </p:txBody>
      </p:sp>
      <p:pic>
        <p:nvPicPr>
          <p:cNvPr id="6" name="Picture 5" descr="register.JPG"/>
          <p:cNvPicPr>
            <a:picLocks noChangeAspect="1"/>
          </p:cNvPicPr>
          <p:nvPr/>
        </p:nvPicPr>
        <p:blipFill>
          <a:blip r:embed="rId2"/>
          <a:stretch>
            <a:fillRect/>
          </a:stretch>
        </p:blipFill>
        <p:spPr>
          <a:xfrm>
            <a:off x="2438400" y="1981200"/>
            <a:ext cx="4200525" cy="4381500"/>
          </a:xfrm>
          <a:prstGeom prst="rect">
            <a:avLst/>
          </a:prstGeom>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591312"/>
          </a:xfrm>
        </p:spPr>
        <p:txBody>
          <a:bodyPr>
            <a:normAutofit/>
          </a:bodyPr>
          <a:lstStyle/>
          <a:p>
            <a:r>
              <a:rPr lang="en-US" sz="3100" dirty="0" smtClean="0">
                <a:solidFill>
                  <a:schemeClr val="tx1"/>
                </a:solidFill>
              </a:rPr>
              <a:t>Login : </a:t>
            </a:r>
            <a:endParaRPr lang="en-US" dirty="0">
              <a:solidFill>
                <a:schemeClr val="tx1"/>
              </a:solidFill>
            </a:endParaRPr>
          </a:p>
        </p:txBody>
      </p:sp>
      <p:pic>
        <p:nvPicPr>
          <p:cNvPr id="4" name="Content Placeholder 3" descr="Login.JPG"/>
          <p:cNvPicPr>
            <a:picLocks noGrp="1" noChangeAspect="1"/>
          </p:cNvPicPr>
          <p:nvPr>
            <p:ph idx="1"/>
          </p:nvPr>
        </p:nvPicPr>
        <p:blipFill>
          <a:blip r:embed="rId2"/>
          <a:stretch>
            <a:fillRect/>
          </a:stretch>
        </p:blipFill>
        <p:spPr>
          <a:xfrm>
            <a:off x="2390775" y="2519362"/>
            <a:ext cx="4362450" cy="2657475"/>
          </a:xfrm>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591312"/>
          </a:xfrm>
        </p:spPr>
        <p:txBody>
          <a:bodyPr>
            <a:normAutofit/>
          </a:bodyPr>
          <a:lstStyle/>
          <a:p>
            <a:r>
              <a:rPr lang="en-US" sz="3100" dirty="0" smtClean="0">
                <a:solidFill>
                  <a:schemeClr val="tx1"/>
                </a:solidFill>
              </a:rPr>
              <a:t>Forget Password: </a:t>
            </a:r>
            <a:endParaRPr lang="en-US" dirty="0">
              <a:solidFill>
                <a:schemeClr val="tx1"/>
              </a:solidFill>
            </a:endParaRPr>
          </a:p>
        </p:txBody>
      </p:sp>
      <p:pic>
        <p:nvPicPr>
          <p:cNvPr id="6" name="Content Placeholder 5" descr="forget.JPG"/>
          <p:cNvPicPr>
            <a:picLocks noGrp="1" noChangeAspect="1"/>
          </p:cNvPicPr>
          <p:nvPr>
            <p:ph idx="1"/>
          </p:nvPr>
        </p:nvPicPr>
        <p:blipFill>
          <a:blip r:embed="rId2"/>
          <a:stretch>
            <a:fillRect/>
          </a:stretch>
        </p:blipFill>
        <p:spPr>
          <a:xfrm>
            <a:off x="2381250" y="2777331"/>
            <a:ext cx="4381500" cy="2705100"/>
          </a:xfrm>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591312"/>
          </a:xfrm>
        </p:spPr>
        <p:txBody>
          <a:bodyPr>
            <a:normAutofit/>
          </a:bodyPr>
          <a:lstStyle/>
          <a:p>
            <a:r>
              <a:rPr lang="en-US" sz="3100" dirty="0" smtClean="0">
                <a:solidFill>
                  <a:schemeClr val="tx1"/>
                </a:solidFill>
              </a:rPr>
              <a:t>Dashboard : </a:t>
            </a:r>
            <a:endParaRPr lang="en-US" dirty="0">
              <a:solidFill>
                <a:schemeClr val="tx1"/>
              </a:solidFill>
            </a:endParaRPr>
          </a:p>
        </p:txBody>
      </p:sp>
      <p:pic>
        <p:nvPicPr>
          <p:cNvPr id="5" name="Content Placeholder 4" descr="dashboard.JPG"/>
          <p:cNvPicPr>
            <a:picLocks noGrp="1" noChangeAspect="1"/>
          </p:cNvPicPr>
          <p:nvPr>
            <p:ph idx="1"/>
          </p:nvPr>
        </p:nvPicPr>
        <p:blipFill>
          <a:blip r:embed="rId2"/>
          <a:stretch>
            <a:fillRect/>
          </a:stretch>
        </p:blipFill>
        <p:spPr>
          <a:xfrm>
            <a:off x="1271000" y="1935163"/>
            <a:ext cx="6601999" cy="4389437"/>
          </a:xfrm>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591312"/>
          </a:xfrm>
        </p:spPr>
        <p:txBody>
          <a:bodyPr>
            <a:normAutofit/>
          </a:bodyPr>
          <a:lstStyle/>
          <a:p>
            <a:r>
              <a:rPr lang="en-US" sz="3100" dirty="0" smtClean="0">
                <a:solidFill>
                  <a:schemeClr val="tx1"/>
                </a:solidFill>
              </a:rPr>
              <a:t>Add medicine: </a:t>
            </a:r>
            <a:endParaRPr lang="en-US" dirty="0">
              <a:solidFill>
                <a:schemeClr val="tx1"/>
              </a:solidFill>
            </a:endParaRPr>
          </a:p>
        </p:txBody>
      </p:sp>
      <p:pic>
        <p:nvPicPr>
          <p:cNvPr id="6" name="Content Placeholder 5" descr="medicine.JPG"/>
          <p:cNvPicPr>
            <a:picLocks noGrp="1" noChangeAspect="1"/>
          </p:cNvPicPr>
          <p:nvPr>
            <p:ph idx="1"/>
          </p:nvPr>
        </p:nvPicPr>
        <p:blipFill>
          <a:blip r:embed="rId2"/>
          <a:stretch>
            <a:fillRect/>
          </a:stretch>
        </p:blipFill>
        <p:spPr>
          <a:xfrm>
            <a:off x="1322214" y="1935163"/>
            <a:ext cx="6499572" cy="4389437"/>
          </a:xfrm>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591312"/>
          </a:xfrm>
        </p:spPr>
        <p:txBody>
          <a:bodyPr>
            <a:normAutofit/>
          </a:bodyPr>
          <a:lstStyle/>
          <a:p>
            <a:r>
              <a:rPr lang="en-US" sz="3100" dirty="0" smtClean="0">
                <a:solidFill>
                  <a:schemeClr val="tx1"/>
                </a:solidFill>
              </a:rPr>
              <a:t>Available Stock: </a:t>
            </a:r>
            <a:endParaRPr lang="en-US" dirty="0">
              <a:solidFill>
                <a:schemeClr val="tx1"/>
              </a:solidFill>
            </a:endParaRPr>
          </a:p>
        </p:txBody>
      </p:sp>
      <p:pic>
        <p:nvPicPr>
          <p:cNvPr id="5" name="Content Placeholder 4" descr="AvailableStock.JPG"/>
          <p:cNvPicPr>
            <a:picLocks noGrp="1" noChangeAspect="1"/>
          </p:cNvPicPr>
          <p:nvPr>
            <p:ph idx="1"/>
          </p:nvPr>
        </p:nvPicPr>
        <p:blipFill>
          <a:blip r:embed="rId2"/>
          <a:stretch>
            <a:fillRect/>
          </a:stretch>
        </p:blipFill>
        <p:spPr>
          <a:xfrm>
            <a:off x="1311148" y="1935163"/>
            <a:ext cx="6521704" cy="4389437"/>
          </a:xfrm>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591312"/>
          </a:xfrm>
        </p:spPr>
        <p:txBody>
          <a:bodyPr>
            <a:normAutofit/>
          </a:bodyPr>
          <a:lstStyle/>
          <a:p>
            <a:r>
              <a:rPr lang="en-US" sz="3100" dirty="0" smtClean="0">
                <a:solidFill>
                  <a:schemeClr val="tx1"/>
                </a:solidFill>
              </a:rPr>
              <a:t>Add Company: </a:t>
            </a:r>
            <a:endParaRPr lang="en-US" dirty="0">
              <a:solidFill>
                <a:schemeClr val="tx1"/>
              </a:solidFill>
            </a:endParaRPr>
          </a:p>
        </p:txBody>
      </p:sp>
      <p:pic>
        <p:nvPicPr>
          <p:cNvPr id="5" name="Content Placeholder 4" descr="company_record.JPG"/>
          <p:cNvPicPr>
            <a:picLocks noGrp="1" noChangeAspect="1"/>
          </p:cNvPicPr>
          <p:nvPr>
            <p:ph idx="1"/>
          </p:nvPr>
        </p:nvPicPr>
        <p:blipFill>
          <a:blip r:embed="rId2"/>
          <a:stretch>
            <a:fillRect/>
          </a:stretch>
        </p:blipFill>
        <p:spPr>
          <a:xfrm>
            <a:off x="1317916" y="1935163"/>
            <a:ext cx="6508167" cy="4389437"/>
          </a:xfrm>
        </p:spPr>
      </p:pic>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591312"/>
          </a:xfrm>
        </p:spPr>
        <p:txBody>
          <a:bodyPr>
            <a:normAutofit/>
          </a:bodyPr>
          <a:lstStyle/>
          <a:p>
            <a:r>
              <a:rPr lang="en-US" sz="3100" dirty="0" smtClean="0">
                <a:solidFill>
                  <a:schemeClr val="tx1"/>
                </a:solidFill>
              </a:rPr>
              <a:t>Sell Medicine: </a:t>
            </a:r>
            <a:endParaRPr lang="en-US" dirty="0">
              <a:solidFill>
                <a:schemeClr val="tx1"/>
              </a:solidFill>
            </a:endParaRPr>
          </a:p>
        </p:txBody>
      </p:sp>
      <p:pic>
        <p:nvPicPr>
          <p:cNvPr id="6" name="Content Placeholder 5" descr="sellMedicine.JPG"/>
          <p:cNvPicPr>
            <a:picLocks noGrp="1" noChangeAspect="1"/>
          </p:cNvPicPr>
          <p:nvPr>
            <p:ph idx="1"/>
          </p:nvPr>
        </p:nvPicPr>
        <p:blipFill>
          <a:blip r:embed="rId2"/>
          <a:stretch>
            <a:fillRect/>
          </a:stretch>
        </p:blipFill>
        <p:spPr>
          <a:xfrm>
            <a:off x="1328792" y="1935163"/>
            <a:ext cx="6486415" cy="4389437"/>
          </a:xfrm>
        </p:spPr>
      </p:pic>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591312"/>
          </a:xfrm>
        </p:spPr>
        <p:txBody>
          <a:bodyPr>
            <a:normAutofit/>
          </a:bodyPr>
          <a:lstStyle/>
          <a:p>
            <a:r>
              <a:rPr lang="en-US" sz="3100" dirty="0" smtClean="0">
                <a:solidFill>
                  <a:schemeClr val="tx1"/>
                </a:solidFill>
              </a:rPr>
              <a:t>Customer Record: </a:t>
            </a:r>
            <a:endParaRPr lang="en-US" dirty="0">
              <a:solidFill>
                <a:schemeClr val="tx1"/>
              </a:solidFill>
            </a:endParaRPr>
          </a:p>
        </p:txBody>
      </p:sp>
      <p:pic>
        <p:nvPicPr>
          <p:cNvPr id="5" name="Content Placeholder 4" descr="customer_reocrd.JPG"/>
          <p:cNvPicPr>
            <a:picLocks noGrp="1" noChangeAspect="1"/>
          </p:cNvPicPr>
          <p:nvPr>
            <p:ph idx="1"/>
          </p:nvPr>
        </p:nvPicPr>
        <p:blipFill>
          <a:blip r:embed="rId2"/>
          <a:stretch>
            <a:fillRect/>
          </a:stretch>
        </p:blipFill>
        <p:spPr>
          <a:xfrm>
            <a:off x="1291006" y="1935163"/>
            <a:ext cx="6561987" cy="4389437"/>
          </a:xfrm>
        </p:spPr>
      </p:pic>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591312"/>
          </a:xfrm>
        </p:spPr>
        <p:txBody>
          <a:bodyPr>
            <a:normAutofit/>
          </a:bodyPr>
          <a:lstStyle/>
          <a:p>
            <a:r>
              <a:rPr lang="en-US" sz="3100" dirty="0" smtClean="0">
                <a:solidFill>
                  <a:schemeClr val="tx1"/>
                </a:solidFill>
              </a:rPr>
              <a:t>Selling Medicine Record: </a:t>
            </a:r>
            <a:endParaRPr lang="en-US" dirty="0">
              <a:solidFill>
                <a:schemeClr val="tx1"/>
              </a:solidFill>
            </a:endParaRPr>
          </a:p>
        </p:txBody>
      </p:sp>
      <p:pic>
        <p:nvPicPr>
          <p:cNvPr id="6" name="Content Placeholder 5" descr="SellingMedicine_record.JPG"/>
          <p:cNvPicPr>
            <a:picLocks noGrp="1" noChangeAspect="1"/>
          </p:cNvPicPr>
          <p:nvPr>
            <p:ph idx="1"/>
          </p:nvPr>
        </p:nvPicPr>
        <p:blipFill>
          <a:blip r:embed="rId2"/>
          <a:stretch>
            <a:fillRect/>
          </a:stretch>
        </p:blipFill>
        <p:spPr>
          <a:xfrm>
            <a:off x="1352203" y="1935163"/>
            <a:ext cx="6439593" cy="4389437"/>
          </a:xfrm>
        </p:spPr>
      </p:pic>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591312"/>
          </a:xfrm>
        </p:spPr>
        <p:txBody>
          <a:bodyPr>
            <a:normAutofit/>
          </a:bodyPr>
          <a:lstStyle/>
          <a:p>
            <a:r>
              <a:rPr lang="en-US" sz="3100" dirty="0" smtClean="0">
                <a:solidFill>
                  <a:schemeClr val="tx1"/>
                </a:solidFill>
              </a:rPr>
              <a:t>Expense Record: </a:t>
            </a:r>
            <a:endParaRPr lang="en-US" dirty="0">
              <a:solidFill>
                <a:schemeClr val="tx1"/>
              </a:solidFill>
            </a:endParaRPr>
          </a:p>
        </p:txBody>
      </p:sp>
      <p:pic>
        <p:nvPicPr>
          <p:cNvPr id="5" name="Content Placeholder 4" descr="Expense.JPG"/>
          <p:cNvPicPr>
            <a:picLocks noGrp="1" noChangeAspect="1"/>
          </p:cNvPicPr>
          <p:nvPr>
            <p:ph idx="1"/>
          </p:nvPr>
        </p:nvPicPr>
        <p:blipFill>
          <a:blip r:embed="rId2"/>
          <a:stretch>
            <a:fillRect/>
          </a:stretch>
        </p:blipFill>
        <p:spPr>
          <a:xfrm>
            <a:off x="1322043" y="1935163"/>
            <a:ext cx="6499914" cy="4389437"/>
          </a:xfrm>
        </p:spPr>
      </p:pic>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591312"/>
          </a:xfrm>
        </p:spPr>
        <p:txBody>
          <a:bodyPr>
            <a:normAutofit/>
          </a:bodyPr>
          <a:lstStyle/>
          <a:p>
            <a:r>
              <a:rPr lang="en-US" sz="3100" dirty="0" smtClean="0">
                <a:solidFill>
                  <a:schemeClr val="tx1"/>
                </a:solidFill>
              </a:rPr>
              <a:t>Credit Record: </a:t>
            </a:r>
            <a:endParaRPr lang="en-US" dirty="0">
              <a:solidFill>
                <a:schemeClr val="tx1"/>
              </a:solidFill>
            </a:endParaRPr>
          </a:p>
        </p:txBody>
      </p:sp>
      <p:pic>
        <p:nvPicPr>
          <p:cNvPr id="6" name="Content Placeholder 5" descr="addCredit.JPG"/>
          <p:cNvPicPr>
            <a:picLocks noGrp="1" noChangeAspect="1"/>
          </p:cNvPicPr>
          <p:nvPr>
            <p:ph idx="1"/>
          </p:nvPr>
        </p:nvPicPr>
        <p:blipFill>
          <a:blip r:embed="rId2"/>
          <a:stretch>
            <a:fillRect/>
          </a:stretch>
        </p:blipFill>
        <p:spPr>
          <a:xfrm>
            <a:off x="1306796" y="1935163"/>
            <a:ext cx="6530407" cy="4389437"/>
          </a:xfrm>
        </p:spPr>
      </p:pic>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591312"/>
          </a:xfrm>
        </p:spPr>
        <p:txBody>
          <a:bodyPr>
            <a:normAutofit/>
          </a:bodyPr>
          <a:lstStyle/>
          <a:p>
            <a:r>
              <a:rPr lang="en-US" sz="3100" dirty="0" smtClean="0">
                <a:solidFill>
                  <a:schemeClr val="tx1"/>
                </a:solidFill>
              </a:rPr>
              <a:t>Make Payment: </a:t>
            </a:r>
            <a:endParaRPr lang="en-US" dirty="0">
              <a:solidFill>
                <a:schemeClr val="tx1"/>
              </a:solidFill>
            </a:endParaRPr>
          </a:p>
        </p:txBody>
      </p:sp>
      <p:pic>
        <p:nvPicPr>
          <p:cNvPr id="5" name="Content Placeholder 4" descr="makePayment.JPG"/>
          <p:cNvPicPr>
            <a:picLocks noGrp="1" noChangeAspect="1"/>
          </p:cNvPicPr>
          <p:nvPr>
            <p:ph idx="1"/>
          </p:nvPr>
        </p:nvPicPr>
        <p:blipFill>
          <a:blip r:embed="rId2"/>
          <a:stretch>
            <a:fillRect/>
          </a:stretch>
        </p:blipFill>
        <p:spPr>
          <a:xfrm>
            <a:off x="1335121" y="1935163"/>
            <a:ext cx="6473757" cy="4389437"/>
          </a:xfrm>
        </p:spPr>
      </p:pic>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591312"/>
          </a:xfrm>
        </p:spPr>
        <p:txBody>
          <a:bodyPr>
            <a:normAutofit/>
          </a:bodyPr>
          <a:lstStyle/>
          <a:p>
            <a:r>
              <a:rPr lang="en-US" sz="3100" dirty="0" smtClean="0">
                <a:solidFill>
                  <a:schemeClr val="tx1"/>
                </a:solidFill>
              </a:rPr>
              <a:t>Daily Expense: </a:t>
            </a:r>
            <a:endParaRPr lang="en-US" dirty="0">
              <a:solidFill>
                <a:schemeClr val="tx1"/>
              </a:solidFill>
            </a:endParaRPr>
          </a:p>
        </p:txBody>
      </p:sp>
      <p:pic>
        <p:nvPicPr>
          <p:cNvPr id="6" name="Content Placeholder 5" descr="Daily_expense.JPG"/>
          <p:cNvPicPr>
            <a:picLocks noGrp="1" noChangeAspect="1"/>
          </p:cNvPicPr>
          <p:nvPr>
            <p:ph idx="1"/>
          </p:nvPr>
        </p:nvPicPr>
        <p:blipFill>
          <a:blip r:embed="rId2"/>
          <a:stretch>
            <a:fillRect/>
          </a:stretch>
        </p:blipFill>
        <p:spPr>
          <a:xfrm>
            <a:off x="1341129" y="1935163"/>
            <a:ext cx="6461741" cy="4389437"/>
          </a:xfrm>
        </p:spPr>
      </p:pic>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591312"/>
          </a:xfrm>
        </p:spPr>
        <p:txBody>
          <a:bodyPr>
            <a:normAutofit/>
          </a:bodyPr>
          <a:lstStyle/>
          <a:p>
            <a:r>
              <a:rPr lang="en-US" sz="3100" dirty="0" smtClean="0">
                <a:solidFill>
                  <a:schemeClr val="tx1"/>
                </a:solidFill>
              </a:rPr>
              <a:t>Daily Credit: </a:t>
            </a:r>
            <a:endParaRPr lang="en-US" dirty="0">
              <a:solidFill>
                <a:schemeClr val="tx1"/>
              </a:solidFill>
            </a:endParaRPr>
          </a:p>
        </p:txBody>
      </p:sp>
      <p:pic>
        <p:nvPicPr>
          <p:cNvPr id="5" name="Content Placeholder 4" descr="daily_credit.JPG"/>
          <p:cNvPicPr>
            <a:picLocks noGrp="1" noChangeAspect="1"/>
          </p:cNvPicPr>
          <p:nvPr>
            <p:ph idx="1"/>
          </p:nvPr>
        </p:nvPicPr>
        <p:blipFill>
          <a:blip r:embed="rId2"/>
          <a:stretch>
            <a:fillRect/>
          </a:stretch>
        </p:blipFill>
        <p:spPr>
          <a:xfrm>
            <a:off x="1270927" y="1935163"/>
            <a:ext cx="6602145" cy="4389437"/>
          </a:xfrm>
        </p:spPr>
      </p:pic>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591312"/>
          </a:xfrm>
        </p:spPr>
        <p:txBody>
          <a:bodyPr>
            <a:normAutofit/>
          </a:bodyPr>
          <a:lstStyle/>
          <a:p>
            <a:r>
              <a:rPr lang="en-US" sz="3100" dirty="0" smtClean="0">
                <a:solidFill>
                  <a:schemeClr val="tx1"/>
                </a:solidFill>
              </a:rPr>
              <a:t>Daily Sells: </a:t>
            </a:r>
            <a:endParaRPr lang="en-US" dirty="0">
              <a:solidFill>
                <a:schemeClr val="tx1"/>
              </a:solidFill>
            </a:endParaRPr>
          </a:p>
        </p:txBody>
      </p:sp>
      <p:pic>
        <p:nvPicPr>
          <p:cNvPr id="6" name="Content Placeholder 5" descr="Daily_sell.JPG"/>
          <p:cNvPicPr>
            <a:picLocks noGrp="1" noChangeAspect="1"/>
          </p:cNvPicPr>
          <p:nvPr>
            <p:ph idx="1"/>
          </p:nvPr>
        </p:nvPicPr>
        <p:blipFill>
          <a:blip r:embed="rId2"/>
          <a:stretch>
            <a:fillRect/>
          </a:stretch>
        </p:blipFill>
        <p:spPr>
          <a:xfrm>
            <a:off x="1334680" y="1935163"/>
            <a:ext cx="6474639" cy="4389437"/>
          </a:xfrm>
        </p:spPr>
      </p:pic>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591312"/>
          </a:xfrm>
        </p:spPr>
        <p:txBody>
          <a:bodyPr>
            <a:normAutofit/>
          </a:bodyPr>
          <a:lstStyle/>
          <a:p>
            <a:r>
              <a:rPr lang="en-US" sz="3100" dirty="0" smtClean="0">
                <a:solidFill>
                  <a:schemeClr val="tx1"/>
                </a:solidFill>
              </a:rPr>
              <a:t>Statement Format: </a:t>
            </a:r>
            <a:endParaRPr lang="en-US" dirty="0">
              <a:solidFill>
                <a:schemeClr val="tx1"/>
              </a:solidFill>
            </a:endParaRPr>
          </a:p>
        </p:txBody>
      </p:sp>
      <p:pic>
        <p:nvPicPr>
          <p:cNvPr id="5" name="Content Placeholder 4" descr="Statement.JPG"/>
          <p:cNvPicPr>
            <a:picLocks noGrp="1" noChangeAspect="1"/>
          </p:cNvPicPr>
          <p:nvPr>
            <p:ph idx="1"/>
          </p:nvPr>
        </p:nvPicPr>
        <p:blipFill>
          <a:blip r:embed="rId2"/>
          <a:stretch>
            <a:fillRect/>
          </a:stretch>
        </p:blipFill>
        <p:spPr>
          <a:xfrm>
            <a:off x="1343442" y="1935163"/>
            <a:ext cx="6457116" cy="4389437"/>
          </a:xfrm>
        </p:spPr>
      </p:pic>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591312"/>
          </a:xfrm>
        </p:spPr>
        <p:txBody>
          <a:bodyPr>
            <a:normAutofit/>
          </a:bodyPr>
          <a:lstStyle/>
          <a:p>
            <a:r>
              <a:rPr lang="en-US" sz="3100" dirty="0" smtClean="0">
                <a:solidFill>
                  <a:schemeClr val="tx1"/>
                </a:solidFill>
              </a:rPr>
              <a:t>Customer Invoice: </a:t>
            </a:r>
            <a:endParaRPr lang="en-US" dirty="0">
              <a:solidFill>
                <a:schemeClr val="tx1"/>
              </a:solidFill>
            </a:endParaRPr>
          </a:p>
        </p:txBody>
      </p:sp>
      <p:pic>
        <p:nvPicPr>
          <p:cNvPr id="5" name="Content Placeholder 4" descr="Customer_invoice.JPG"/>
          <p:cNvPicPr>
            <a:picLocks noGrp="1" noChangeAspect="1"/>
          </p:cNvPicPr>
          <p:nvPr>
            <p:ph idx="1"/>
          </p:nvPr>
        </p:nvPicPr>
        <p:blipFill>
          <a:blip r:embed="rId2"/>
          <a:stretch>
            <a:fillRect/>
          </a:stretch>
        </p:blipFill>
        <p:spPr>
          <a:xfrm>
            <a:off x="1319907" y="1935163"/>
            <a:ext cx="6504186" cy="4389437"/>
          </a:xfrm>
        </p:spPr>
      </p:pic>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buFont typeface="Wingdings" pitchFamily="2" charset="2"/>
              <a:buChar char="v"/>
            </a:pPr>
            <a:r>
              <a:rPr lang="en-US" sz="4400" dirty="0" smtClean="0"/>
              <a:t>Limitation :</a:t>
            </a:r>
            <a:endParaRPr lang="en-US" sz="4400" dirty="0"/>
          </a:p>
        </p:txBody>
      </p:sp>
      <p:sp>
        <p:nvSpPr>
          <p:cNvPr id="3" name="Content Placeholder 2"/>
          <p:cNvSpPr>
            <a:spLocks noGrp="1"/>
          </p:cNvSpPr>
          <p:nvPr>
            <p:ph idx="1"/>
          </p:nvPr>
        </p:nvSpPr>
        <p:spPr/>
        <p:txBody>
          <a:bodyPr/>
          <a:lstStyle/>
          <a:p>
            <a:pPr>
              <a:buFont typeface="Wingdings" pitchFamily="2" charset="2"/>
              <a:buChar char="Ø"/>
            </a:pPr>
            <a:r>
              <a:rPr lang="en-US" dirty="0" smtClean="0"/>
              <a:t>This system will work On Offline.</a:t>
            </a:r>
          </a:p>
          <a:p>
            <a:pPr>
              <a:buFont typeface="Wingdings" pitchFamily="2" charset="2"/>
              <a:buChar char="Ø"/>
            </a:pPr>
            <a:r>
              <a:rPr lang="en-US" dirty="0" smtClean="0"/>
              <a:t>System is crash then all data are erase.</a:t>
            </a:r>
          </a:p>
          <a:p>
            <a:pPr>
              <a:buFont typeface="Wingdings" pitchFamily="2" charset="2"/>
              <a:buChar char="Ø"/>
            </a:pPr>
            <a:r>
              <a:rPr lang="en-US" dirty="0" smtClean="0"/>
              <a:t>Only Admin can manage this system there is no employee panel.</a:t>
            </a:r>
            <a:endParaRPr lang="en-US" dirty="0"/>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1950</TotalTime>
  <Words>1275</Words>
  <Application>Microsoft Office PowerPoint</Application>
  <PresentationFormat>On-screen Show (4:3)</PresentationFormat>
  <Paragraphs>335</Paragraphs>
  <Slides>44</Slides>
  <Notes>0</Notes>
  <HiddenSlides>0</HiddenSlides>
  <MMClips>0</MMClips>
  <ScaleCrop>false</ScaleCrop>
  <HeadingPairs>
    <vt:vector size="6" baseType="variant">
      <vt:variant>
        <vt:lpstr>Theme</vt:lpstr>
      </vt:variant>
      <vt:variant>
        <vt:i4>1</vt:i4>
      </vt:variant>
      <vt:variant>
        <vt:lpstr>Slide Titles</vt:lpstr>
      </vt:variant>
      <vt:variant>
        <vt:i4>44</vt:i4>
      </vt:variant>
      <vt:variant>
        <vt:lpstr>Custom Shows</vt:lpstr>
      </vt:variant>
      <vt:variant>
        <vt:i4>1</vt:i4>
      </vt:variant>
    </vt:vector>
  </HeadingPairs>
  <TitlesOfParts>
    <vt:vector size="46" baseType="lpstr">
      <vt:lpstr>Flow</vt:lpstr>
      <vt:lpstr>Pharmacy Management System</vt:lpstr>
      <vt:lpstr>Existing System</vt:lpstr>
      <vt:lpstr>Proposed System</vt:lpstr>
      <vt:lpstr>Scope of System</vt:lpstr>
      <vt:lpstr>Objectives System</vt:lpstr>
      <vt:lpstr>Stackholder of System</vt:lpstr>
      <vt:lpstr> PROJECT DEFINITION</vt:lpstr>
      <vt:lpstr>PROJECT DEFINITION</vt:lpstr>
      <vt:lpstr>PROJECT DEFINITION</vt:lpstr>
      <vt:lpstr>Feasibility Study</vt:lpstr>
      <vt:lpstr>Feasibility Study</vt:lpstr>
      <vt:lpstr>Feasibility Study</vt:lpstr>
      <vt:lpstr>Hardware-Software Requirement</vt:lpstr>
      <vt:lpstr>System Planning</vt:lpstr>
      <vt:lpstr>SYSTEM ANALYSIS AND DESIGN</vt:lpstr>
      <vt:lpstr>Use case Diagram : </vt:lpstr>
      <vt:lpstr>Class diagram :</vt:lpstr>
      <vt:lpstr>Activity Diagram : </vt:lpstr>
      <vt:lpstr>Data Dictionary :    Medicine Table :</vt:lpstr>
      <vt:lpstr> Company Table :</vt:lpstr>
      <vt:lpstr>Customer Table :</vt:lpstr>
      <vt:lpstr>Expensive Table :</vt:lpstr>
      <vt:lpstr>Credit Table :</vt:lpstr>
      <vt:lpstr>Selling Medicine Table :</vt:lpstr>
      <vt:lpstr>System flow Diagram :</vt:lpstr>
      <vt:lpstr>User Interface :</vt:lpstr>
      <vt:lpstr>Login : </vt:lpstr>
      <vt:lpstr>Forget Password: </vt:lpstr>
      <vt:lpstr>Dashboard : </vt:lpstr>
      <vt:lpstr>Add medicine: </vt:lpstr>
      <vt:lpstr>Available Stock: </vt:lpstr>
      <vt:lpstr>Add Company: </vt:lpstr>
      <vt:lpstr>Sell Medicine: </vt:lpstr>
      <vt:lpstr>Customer Record: </vt:lpstr>
      <vt:lpstr>Selling Medicine Record: </vt:lpstr>
      <vt:lpstr>Expense Record: </vt:lpstr>
      <vt:lpstr>Credit Record: </vt:lpstr>
      <vt:lpstr>Make Payment: </vt:lpstr>
      <vt:lpstr>Daily Expense: </vt:lpstr>
      <vt:lpstr>Daily Credit: </vt:lpstr>
      <vt:lpstr>Daily Sells: </vt:lpstr>
      <vt:lpstr>Statement Format: </vt:lpstr>
      <vt:lpstr>Customer Invoice: </vt:lpstr>
      <vt:lpstr>Limitation :</vt:lpstr>
      <vt:lpstr>Custom Show 1</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Pharmacy Management System</dc:title>
  <dc:creator>moin_pc</dc:creator>
  <cp:lastModifiedBy>moin_pc</cp:lastModifiedBy>
  <cp:revision>108</cp:revision>
  <dcterms:created xsi:type="dcterms:W3CDTF">2006-08-16T00:00:00Z</dcterms:created>
  <dcterms:modified xsi:type="dcterms:W3CDTF">2022-05-05T16:22:34Z</dcterms:modified>
</cp:coreProperties>
</file>